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lang="en-US"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GB" sz="1100" b="0" u="none" strike="noStrike">
                <a:solidFill>
                  <a:srgbClr val="0f2b46"/>
                </a:solidFill>
                <a:uFillTx/>
                <a:latin typeface="Trebuchet MS"/>
              </a:rPr>
              <a:t>Average Wait Time by Hour of Day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Wait (min)</c:v>
                </c:pt>
              </c:strCache>
            </c:strRef>
          </c:tx>
          <c:spPr>
            <a:solidFill>
              <a:srgbClr val="0d7377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lang="en-US"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4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19</c:v>
                </c:pt>
                <c:pt idx="11">
                  <c:v>20</c:v>
                </c:pt>
                <c:pt idx="12">
                  <c:v>21</c:v>
                </c:pt>
                <c:pt idx="13">
                  <c:v>22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4"/>
                <c:pt idx="0">
                  <c:v>12</c:v>
                </c:pt>
                <c:pt idx="1">
                  <c:v>18</c:v>
                </c:pt>
                <c:pt idx="2">
                  <c:v>26</c:v>
                </c:pt>
                <c:pt idx="3">
                  <c:v>30</c:v>
                </c:pt>
                <c:pt idx="4">
                  <c:v>32</c:v>
                </c:pt>
                <c:pt idx="5">
                  <c:v>31</c:v>
                </c:pt>
                <c:pt idx="6">
                  <c:v>28</c:v>
                </c:pt>
                <c:pt idx="7">
                  <c:v>25</c:v>
                </c:pt>
                <c:pt idx="8">
                  <c:v>22</c:v>
                </c:pt>
                <c:pt idx="9">
                  <c:v>20</c:v>
                </c:pt>
                <c:pt idx="10">
                  <c:v>19</c:v>
                </c:pt>
                <c:pt idx="11">
                  <c:v>18</c:v>
                </c:pt>
                <c:pt idx="12">
                  <c:v>15</c:v>
                </c:pt>
                <c:pt idx="13">
                  <c:v>10</c:v>
                </c:pt>
              </c:numCache>
            </c:numRef>
          </c:val>
        </c:ser>
        <c:gapWidth val="150"/>
        <c:overlap val="0"/>
        <c:axId val="81037251"/>
        <c:axId val="57772615"/>
      </c:barChart>
      <c:catAx>
        <c:axId val="8103725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en-US" sz="800" b="0" u="none" strike="noStrike">
                <a:solidFill>
                  <a:srgbClr val="3d4f5f"/>
                </a:solidFill>
                <a:uFillTx/>
                <a:latin typeface="Arial"/>
              </a:defRPr>
            </a:pPr>
          </a:p>
        </c:txPr>
        <c:crossAx val="57772615"/>
        <c:crosses val="autoZero"/>
        <c:auto val="1"/>
        <c:lblAlgn val="ctr"/>
        <c:lblOffset val="100"/>
        <c:noMultiLvlLbl val="0"/>
      </c:catAx>
      <c:valAx>
        <c:axId val="57772615"/>
        <c:scaling>
          <c:orientation val="minMax"/>
        </c:scaling>
        <c:delete val="0"/>
        <c:axPos val="l"/>
        <c:majorGridlines>
          <c:spPr>
            <a:ln w="6480">
              <a:solidFill>
                <a:srgbClr val="e8ecf1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en-US" sz="800" b="0" u="none" strike="noStrike">
                <a:solidFill>
                  <a:srgbClr val="3d4f5f"/>
                </a:solidFill>
                <a:uFillTx/>
                <a:latin typeface="Arial"/>
              </a:defRPr>
            </a:pPr>
          </a:p>
        </c:txPr>
        <c:crossAx val="8103725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lang="en-US"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GB" sz="1100" b="0" u="none" strike="noStrike">
                <a:solidFill>
                  <a:srgbClr val="0f2b46"/>
                </a:solidFill>
                <a:uFillTx/>
                <a:latin typeface="Trebuchet MS"/>
              </a:rPr>
              <a:t>Average Wait Time by Day of Week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Wait (min)</c:v>
                </c:pt>
              </c:strCache>
            </c:strRef>
          </c:tx>
          <c:spPr>
            <a:solidFill>
              <a:srgbClr val="f4a261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lang="en-US"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19</c:v>
                </c:pt>
                <c:pt idx="1">
                  <c:v>18</c:v>
                </c:pt>
                <c:pt idx="2">
                  <c:v>17</c:v>
                </c:pt>
                <c:pt idx="3">
                  <c:v>19</c:v>
                </c:pt>
                <c:pt idx="4">
                  <c:v>23</c:v>
                </c:pt>
                <c:pt idx="5">
                  <c:v>31</c:v>
                </c:pt>
                <c:pt idx="6">
                  <c:v>25</c:v>
                </c:pt>
              </c:numCache>
            </c:numRef>
          </c:val>
        </c:ser>
        <c:gapWidth val="150"/>
        <c:overlap val="0"/>
        <c:axId val="11226253"/>
        <c:axId val="51028338"/>
      </c:barChart>
      <c:catAx>
        <c:axId val="1122625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en-US" sz="900" b="0" u="none" strike="noStrike">
                <a:solidFill>
                  <a:srgbClr val="3d4f5f"/>
                </a:solidFill>
                <a:uFillTx/>
                <a:latin typeface="Arial"/>
              </a:defRPr>
            </a:pPr>
          </a:p>
        </c:txPr>
        <c:crossAx val="51028338"/>
        <c:crosses val="autoZero"/>
        <c:auto val="1"/>
        <c:lblAlgn val="ctr"/>
        <c:lblOffset val="100"/>
        <c:noMultiLvlLbl val="0"/>
      </c:catAx>
      <c:valAx>
        <c:axId val="51028338"/>
        <c:scaling>
          <c:orientation val="minMax"/>
        </c:scaling>
        <c:delete val="0"/>
        <c:axPos val="l"/>
        <c:majorGridlines>
          <c:spPr>
            <a:ln w="6480">
              <a:solidFill>
                <a:srgbClr val="e8ecf1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en-US" sz="800" b="0" u="none" strike="noStrike">
                <a:solidFill>
                  <a:srgbClr val="3d4f5f"/>
                </a:solidFill>
                <a:uFillTx/>
                <a:latin typeface="Arial"/>
              </a:defRPr>
            </a:pPr>
          </a:p>
        </c:txPr>
        <c:crossAx val="1122625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lang="en-US"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GB" sz="1000" b="0" u="none" strike="noStrike">
                <a:solidFill>
                  <a:srgbClr val="0f2b46"/>
                </a:solidFill>
                <a:uFillTx/>
                <a:latin typeface="Trebuchet MS"/>
              </a:rPr>
              <a:t>Spiral Slide – Wait Time (Aug 15, 2022)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a2332"/>
            </a:solidFill>
            <a:ln w="25560">
              <a:solidFill>
                <a:srgbClr val="1a2332"/>
              </a:solidFill>
              <a:round/>
            </a:ln>
          </c:spPr>
          <c:marker>
            <c:symbol val="circle"/>
            <c:size val="6"/>
            <c:spPr>
              <a:solidFill>
                <a:srgbClr val="1a2332"/>
              </a:solidFill>
            </c:spPr>
          </c:marker>
          <c:dLbls>
            <c:txPr>
              <a:bodyPr wrap="square"/>
              <a:lstStyle/>
              <a:p>
                <a:pPr>
                  <a:defRPr lang="en-US"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255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9"/>
                <c:pt idx="0">
                  <c:v>9:00</c:v>
                </c:pt>
                <c:pt idx="1">
                  <c:v>10:00</c:v>
                </c:pt>
                <c:pt idx="2">
                  <c:v>11:00</c:v>
                </c:pt>
                <c:pt idx="3">
                  <c:v>12:00</c:v>
                </c:pt>
                <c:pt idx="4">
                  <c:v>13:00</c:v>
                </c:pt>
                <c:pt idx="5">
                  <c:v>14:00</c:v>
                </c:pt>
                <c:pt idx="6">
                  <c:v>15:00</c:v>
                </c:pt>
                <c:pt idx="7">
                  <c:v>16:00</c:v>
                </c:pt>
                <c:pt idx="8">
                  <c:v>17:00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  <c:pt idx="4">
                  <c:v>60</c:v>
                </c:pt>
                <c:pt idx="5">
                  <c:v>52</c:v>
                </c:pt>
                <c:pt idx="6">
                  <c:v>38</c:v>
                </c:pt>
                <c:pt idx="7">
                  <c:v>28</c:v>
                </c:pt>
                <c:pt idx="8">
                  <c:v>15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e76f51"/>
            </a:solidFill>
            <a:ln w="25560">
              <a:solidFill>
                <a:srgbClr val="e76f51"/>
              </a:solidFill>
              <a:round/>
            </a:ln>
          </c:spPr>
          <c:marker>
            <c:symbol val="circle"/>
            <c:size val="6"/>
            <c:spPr>
              <a:solidFill>
                <a:srgbClr val="e76f51"/>
              </a:solidFill>
            </c:spPr>
          </c:marker>
          <c:dLbls>
            <c:txPr>
              <a:bodyPr wrap="square"/>
              <a:lstStyle/>
              <a:p>
                <a:pPr>
                  <a:defRPr lang="en-US"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255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9"/>
                <c:pt idx="0">
                  <c:v>9:00</c:v>
                </c:pt>
                <c:pt idx="1">
                  <c:v>10:00</c:v>
                </c:pt>
                <c:pt idx="2">
                  <c:v>11:00</c:v>
                </c:pt>
                <c:pt idx="3">
                  <c:v>12:00</c:v>
                </c:pt>
                <c:pt idx="4">
                  <c:v>13:00</c:v>
                </c:pt>
                <c:pt idx="5">
                  <c:v>14:00</c:v>
                </c:pt>
                <c:pt idx="6">
                  <c:v>15:00</c:v>
                </c:pt>
                <c:pt idx="7">
                  <c:v>16:00</c:v>
                </c:pt>
                <c:pt idx="8">
                  <c:v>17:00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9"/>
                <c:pt idx="0">
                  <c:v>12</c:v>
                </c:pt>
                <c:pt idx="1">
                  <c:v>22</c:v>
                </c:pt>
                <c:pt idx="2">
                  <c:v>38</c:v>
                </c:pt>
                <c:pt idx="3">
                  <c:v>52</c:v>
                </c:pt>
                <c:pt idx="4">
                  <c:v>58</c:v>
                </c:pt>
                <c:pt idx="5">
                  <c:v>50</c:v>
                </c:pt>
                <c:pt idx="6">
                  <c:v>40</c:v>
                </c:pt>
                <c:pt idx="7">
                  <c:v>30</c:v>
                </c:pt>
                <c:pt idx="8">
                  <c:v>18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32459459"/>
        <c:axId val="1395253"/>
      </c:lineChart>
      <c:catAx>
        <c:axId val="3245945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en-US" sz="800" b="0" u="none" strike="noStrike">
                <a:solidFill>
                  <a:srgbClr val="3d4f5f"/>
                </a:solidFill>
                <a:uFillTx/>
                <a:latin typeface="Arial"/>
              </a:defRPr>
            </a:pPr>
          </a:p>
        </c:txPr>
        <c:crossAx val="1395253"/>
        <c:crosses val="autoZero"/>
        <c:auto val="1"/>
        <c:lblAlgn val="ctr"/>
        <c:lblOffset val="100"/>
        <c:noMultiLvlLbl val="0"/>
      </c:catAx>
      <c:valAx>
        <c:axId val="1395253"/>
        <c:scaling>
          <c:orientation val="minMax"/>
        </c:scaling>
        <c:delete val="0"/>
        <c:axPos val="l"/>
        <c:majorGridlines>
          <c:spPr>
            <a:ln w="6480">
              <a:solidFill>
                <a:srgbClr val="e8ecf1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lang="en-US" sz="800" b="0" u="none" strike="noStrike">
                <a:solidFill>
                  <a:srgbClr val="3d4f5f"/>
                </a:solidFill>
                <a:uFillTx/>
                <a:latin typeface="Arial"/>
              </a:defRPr>
            </a:pPr>
          </a:p>
        </c:txPr>
        <c:crossAx val="3245945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lang="en-US" sz="9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82730C2-5D54-4C1B-BF7D-56C4FED1E27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6BA20A9-6884-4761-B2BC-637FA747031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577652-654C-4E29-887F-D244B6D2CC0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06375A5-267F-4C55-90BF-6D92C9701EE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063EAC6-15BF-4913-B2E2-210C3F0892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9482BE-DF2E-4325-94AF-B2EB83FEE97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751BE75-E7A3-47E7-A2F1-C83803EFF1F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A53EB66-AC9C-4C5A-A767-22D434043A3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583EEC3-5D18-4318-86FF-8C27AAABE35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81C4E2-6C9C-4B3F-97FB-CEC486FA3CF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1EF76B7-71D6-4A53-9AE3-6F3B043B2B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B244B1D-9139-4FAE-9922-E63F9542D4D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F1332B0-6B6E-4A70-90E7-FBE28A0F95C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D81019-FA9B-440E-944D-053AF15B678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F58E23-CAFE-40F2-AAE9-CF47CA69924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B85626-DAE9-4CCD-B7AA-7EDC8F7DC10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05C2AB7-12A2-48A6-BD21-2C1B554EE90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961C001-AD4A-4594-9F1F-EF7335C2767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BA7B44-845F-4A68-A0C0-E8BE631CDD2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2.png"/><Relationship Id="rId9" Type="http://schemas.openxmlformats.org/officeDocument/2006/relationships/image" Target="../media/image22.png"/><Relationship Id="rId10" Type="http://schemas.openxmlformats.org/officeDocument/2006/relationships/image" Target="../media/image22.png"/><Relationship Id="rId11" Type="http://schemas.openxmlformats.org/officeDocument/2006/relationships/image" Target="../media/image2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1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1.png"/><Relationship Id="rId3" Type="http://schemas.openxmlformats.org/officeDocument/2006/relationships/image" Target="../media/image21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6.pn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image" Target="../media/image28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943600" y="-585360"/>
            <a:ext cx="4571640" cy="4571640"/>
          </a:xfrm>
          <a:prstGeom prst="ellipse">
            <a:avLst/>
          </a:prstGeom>
          <a:solidFill>
            <a:srgbClr val="0d7377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858000" y="2286000"/>
            <a:ext cx="3657240" cy="3657240"/>
          </a:xfrm>
          <a:prstGeom prst="ellipse">
            <a:avLst/>
          </a:prstGeom>
          <a:solidFill>
            <a:srgbClr val="14a3a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640080" y="6451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640080" y="111888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pc="300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THE ENDLESS LINE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1935720"/>
            <a:ext cx="4076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14a3a8"/>
                </a:solidFill>
                <a:effectLst/>
                <a:uFillTx/>
                <a:latin typeface="Calibri"/>
                <a:ea typeface="Calibri"/>
              </a:rPr>
              <a:t>Forecasting Waiting Times in PortAventura World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640080" y="2906640"/>
            <a:ext cx="2285640" cy="36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6"/>
          <p:cNvSpPr/>
          <p:nvPr/>
        </p:nvSpPr>
        <p:spPr>
          <a:xfrm>
            <a:off x="640080" y="32248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Consulting Proposal: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 A Data-Driven Strategy for Euro-park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640080" y="4251960"/>
            <a:ext cx="355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Anas Khalil, Marta Shkreli, Matteo Couchoud, Neil Dinia, Nicolas Perion, Zihan Yang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Picture 17" descr="A ferris wheel and a tent&#10;&#10;Description automatically generated"/>
          <p:cNvPicPr/>
          <p:nvPr/>
        </p:nvPicPr>
        <p:blipFill>
          <a:blip r:embed="rId2"/>
          <a:stretch/>
        </p:blipFill>
        <p:spPr>
          <a:xfrm>
            <a:off x="5282640" y="1523160"/>
            <a:ext cx="3150360" cy="315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"/>
          <p:cNvSpPr/>
          <p:nvPr/>
        </p:nvSpPr>
        <p:spPr>
          <a:xfrm>
            <a:off x="640080" y="2743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AGENDA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640080" y="1188720"/>
            <a:ext cx="78634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640080" y="1188720"/>
            <a:ext cx="63720" cy="77688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4"/>
          <p:cNvSpPr/>
          <p:nvPr/>
        </p:nvSpPr>
        <p:spPr>
          <a:xfrm>
            <a:off x="960120" y="118872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1600200" y="1371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2148840" y="12344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Context &amp; Objectives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2148840" y="1600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Understanding Euro-park's challenge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40080" y="2103120"/>
            <a:ext cx="78634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640080" y="2103120"/>
            <a:ext cx="63720" cy="77688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9"/>
          <p:cNvSpPr/>
          <p:nvPr/>
        </p:nvSpPr>
        <p:spPr>
          <a:xfrm>
            <a:off x="960120" y="210312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1" descr="preencoded.png"/>
          <p:cNvPicPr/>
          <p:nvPr/>
        </p:nvPicPr>
        <p:blipFill>
          <a:blip r:embed="rId2"/>
          <a:stretch/>
        </p:blipFill>
        <p:spPr>
          <a:xfrm>
            <a:off x="1600200" y="2286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0"/>
          <p:cNvSpPr/>
          <p:nvPr/>
        </p:nvSpPr>
        <p:spPr>
          <a:xfrm>
            <a:off x="2148840" y="21488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Key Success Factors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2148840" y="25146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What makes our approach unique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40080" y="3017520"/>
            <a:ext cx="78634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40080" y="3017520"/>
            <a:ext cx="63720" cy="77688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960120" y="301752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2" descr="preencoded.png"/>
          <p:cNvPicPr/>
          <p:nvPr/>
        </p:nvPicPr>
        <p:blipFill>
          <a:blip r:embed="rId3"/>
          <a:stretch/>
        </p:blipFill>
        <p:spPr>
          <a:xfrm>
            <a:off x="1600200" y="3200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5"/>
          <p:cNvSpPr/>
          <p:nvPr/>
        </p:nvSpPr>
        <p:spPr>
          <a:xfrm>
            <a:off x="2148840" y="30632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Methodology &amp; Planning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2148840" y="34290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Our approach, EDA insights, demo &amp; roadmap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640080" y="3931920"/>
            <a:ext cx="786348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640080" y="3931920"/>
            <a:ext cx="63720" cy="77688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960120" y="393192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3" descr="preencoded.png"/>
          <p:cNvPicPr/>
          <p:nvPr/>
        </p:nvPicPr>
        <p:blipFill>
          <a:blip r:embed="rId4"/>
          <a:stretch/>
        </p:blipFill>
        <p:spPr>
          <a:xfrm>
            <a:off x="1600200" y="4114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20"/>
          <p:cNvSpPr/>
          <p:nvPr/>
        </p:nvSpPr>
        <p:spPr>
          <a:xfrm>
            <a:off x="2148840" y="39776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Why Us?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2148840" y="43434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Our team and relevant expertise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2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CONTEXT &amp; 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Euro-park's Growing Pain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40080" y="1280160"/>
            <a:ext cx="484596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640080" y="1280160"/>
            <a:ext cx="63720" cy="959760"/>
          </a:xfrm>
          <a:prstGeom prst="rect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91440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5"/>
          <p:cNvSpPr/>
          <p:nvPr/>
        </p:nvSpPr>
        <p:spPr>
          <a:xfrm>
            <a:off x="1371600" y="13258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Post-COVID surge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371600" y="1627560"/>
            <a:ext cx="305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Since reopening, waiting times have significantly increased — visitors wait an average of 23 minutes, with peaks exceeding 60 minutes at top attractions.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640080" y="2423160"/>
            <a:ext cx="484596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640080" y="2423160"/>
            <a:ext cx="63720" cy="959760"/>
          </a:xfrm>
          <a:prstGeom prst="rect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7" name="Image 1" descr="preencoded.png"/>
          <p:cNvPicPr/>
          <p:nvPr/>
        </p:nvPicPr>
        <p:blipFill>
          <a:blip r:embed="rId2"/>
          <a:stretch/>
        </p:blipFill>
        <p:spPr>
          <a:xfrm>
            <a:off x="914400" y="2514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9"/>
          <p:cNvSpPr/>
          <p:nvPr/>
        </p:nvSpPr>
        <p:spPr>
          <a:xfrm>
            <a:off x="1371600" y="24688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Visitor dissatisfaction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1371600" y="2770560"/>
            <a:ext cx="3268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Excessive queues are the #1 driver of negative reviews, directly hurting Net Promoter Score and repeat visit rates.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640080" y="3566160"/>
            <a:ext cx="484596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640080" y="3566160"/>
            <a:ext cx="63720" cy="959760"/>
          </a:xfrm>
          <a:prstGeom prst="rect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Image 2" descr="preencoded.png"/>
          <p:cNvPicPr/>
          <p:nvPr/>
        </p:nvPicPr>
        <p:blipFill>
          <a:blip r:embed="rId3"/>
          <a:stretch/>
        </p:blipFill>
        <p:spPr>
          <a:xfrm>
            <a:off x="914400" y="365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3"/>
          <p:cNvSpPr/>
          <p:nvPr/>
        </p:nvSpPr>
        <p:spPr>
          <a:xfrm>
            <a:off x="1371600" y="36118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Operational blind spots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1371600" y="3913560"/>
            <a:ext cx="3184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Park management currently lacks accurate predictive tools, relying on reactive staffing and static scheduling.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5"/>
          <p:cNvSpPr/>
          <p:nvPr/>
        </p:nvSpPr>
        <p:spPr>
          <a:xfrm>
            <a:off x="5760720" y="1280160"/>
            <a:ext cx="3017160" cy="2944080"/>
          </a:xfrm>
          <a:prstGeom prst="rect">
            <a:avLst/>
          </a:prstGeom>
          <a:solidFill>
            <a:srgbClr val="0f2b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5760720" y="14173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4a261"/>
                </a:solidFill>
                <a:effectLst/>
                <a:uFillTx/>
                <a:latin typeface="Trebuchet MS"/>
                <a:ea typeface="Trebuchet MS"/>
              </a:rPr>
              <a:t>KEY FIGURES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5943600" y="18745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23 min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5943600" y="22219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Average waiting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5943600" y="25603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57 min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5943600" y="29077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Worst attraction avg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5943600" y="32461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2"/>
          <p:cNvSpPr/>
          <p:nvPr/>
        </p:nvSpPr>
        <p:spPr>
          <a:xfrm>
            <a:off x="5943600" y="35935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Attractions tracked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5943600" y="39319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5943600" y="42793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3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31" descr="A pink virus with black circles&#10;&#10;Description automatically generated"/>
          <p:cNvPicPr/>
          <p:nvPr/>
        </p:nvPicPr>
        <p:blipFill>
          <a:blip r:embed="rId4"/>
          <a:stretch/>
        </p:blipFill>
        <p:spPr>
          <a:xfrm>
            <a:off x="4698720" y="1513080"/>
            <a:ext cx="615960" cy="61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35" descr="A chat bubbles with a sad face&#10;&#10;Description automatically generated"/>
          <p:cNvPicPr/>
          <p:nvPr/>
        </p:nvPicPr>
        <p:blipFill>
          <a:blip r:embed="rId5"/>
          <a:stretch/>
        </p:blipFill>
        <p:spPr>
          <a:xfrm>
            <a:off x="4739760" y="260604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37" descr="A magnifying glass and graph&#10;&#10;Description automatically generated"/>
          <p:cNvPicPr/>
          <p:nvPr/>
        </p:nvPicPr>
        <p:blipFill>
          <a:blip r:embed="rId6"/>
          <a:stretch/>
        </p:blipFill>
        <p:spPr>
          <a:xfrm>
            <a:off x="4694040" y="3700080"/>
            <a:ext cx="640800" cy="64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CONTEXT &amp; 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Two Core Questions for Euro-park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640080" y="1280160"/>
            <a:ext cx="374868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640080" y="1280160"/>
            <a:ext cx="3748680" cy="637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1700640" y="1577520"/>
            <a:ext cx="639720" cy="63972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1828800" y="17053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6"/>
          <p:cNvSpPr/>
          <p:nvPr/>
        </p:nvSpPr>
        <p:spPr>
          <a:xfrm>
            <a:off x="2414160" y="163008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Q1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914400" y="233172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How to accurately forecast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attractions waiting times?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914400" y="301752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Medium/long-term forecasts </a:t>
            </a: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under normal operations — excluding unplanned events (breakdowns, rehabs). Leverage historical patterns, attendance, weather, and schedules.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4754880" y="1280160"/>
            <a:ext cx="374868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4754880" y="1280160"/>
            <a:ext cx="3748680" cy="637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5917680" y="1540800"/>
            <a:ext cx="639720" cy="639720"/>
          </a:xfrm>
          <a:prstGeom prst="ellipse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 1" descr="preencoded.png"/>
          <p:cNvPicPr/>
          <p:nvPr/>
        </p:nvPicPr>
        <p:blipFill>
          <a:blip r:embed="rId2"/>
          <a:stretch/>
        </p:blipFill>
        <p:spPr>
          <a:xfrm>
            <a:off x="6045840" y="17053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2"/>
          <p:cNvSpPr/>
          <p:nvPr/>
        </p:nvSpPr>
        <p:spPr>
          <a:xfrm>
            <a:off x="6629400" y="158508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4a261"/>
                </a:solidFill>
                <a:effectLst/>
                <a:uFillTx/>
                <a:latin typeface="Trebuchet MS"/>
                <a:ea typeface="Trebuchet MS"/>
              </a:rPr>
              <a:t>Q2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5029200" y="2331720"/>
            <a:ext cx="3200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How to leverage forecasts 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enhance Euro-park's KPIs?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5029200" y="301752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Turn predictions into </a:t>
            </a:r>
            <a:r>
              <a:rPr lang="en-US" sz="1100" b="1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actionable decisions</a:t>
            </a: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: dynamic staffing, real-time visitor redistribution, personalized recommendations, and revenue optimization through data.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4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CONTEXT &amp; 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Why This Problem Is Hard to Solve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640080" y="1234440"/>
            <a:ext cx="26056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822960" y="1417320"/>
            <a:ext cx="456840" cy="45684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914400" y="150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5"/>
          <p:cNvSpPr/>
          <p:nvPr/>
        </p:nvSpPr>
        <p:spPr>
          <a:xfrm>
            <a:off x="1417320" y="14173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High dimensionality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822960" y="19202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26 attractions × 15-min granularity × 5 years = </a:t>
            </a:r>
            <a:r>
              <a:rPr lang="en-US" sz="950" b="1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3.5M+ </a:t>
            </a: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raw data points with </a:t>
            </a:r>
            <a:r>
              <a:rPr lang="en-US" sz="950" b="1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complex interdependencies.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3429000" y="1234440"/>
            <a:ext cx="26056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3611880" y="1417320"/>
            <a:ext cx="456840" cy="45684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Image 1" descr="preencoded.png"/>
          <p:cNvPicPr/>
          <p:nvPr/>
        </p:nvPicPr>
        <p:blipFill>
          <a:blip r:embed="rId2"/>
          <a:stretch/>
        </p:blipFill>
        <p:spPr>
          <a:xfrm>
            <a:off x="3703320" y="150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9"/>
          <p:cNvSpPr/>
          <p:nvPr/>
        </p:nvSpPr>
        <p:spPr>
          <a:xfrm>
            <a:off x="4206240" y="14173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Exogenous factors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3611880" y="19202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Weather, holidays, parades, school vacations, and special events all influence demand non-linearly.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1"/>
          <p:cNvSpPr/>
          <p:nvPr/>
        </p:nvSpPr>
        <p:spPr>
          <a:xfrm>
            <a:off x="6217920" y="1234440"/>
            <a:ext cx="26056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6400800" y="1417320"/>
            <a:ext cx="456840" cy="45684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3"/>
          <a:stretch/>
        </p:blipFill>
        <p:spPr>
          <a:xfrm>
            <a:off x="6492240" y="150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13"/>
          <p:cNvSpPr/>
          <p:nvPr/>
        </p:nvSpPr>
        <p:spPr>
          <a:xfrm>
            <a:off x="6995160" y="14173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Non-stationarity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6400800" y="19202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Post-COVID behavioral shifts mean historical patterns may not directly apply — the model must adapt.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5"/>
          <p:cNvSpPr/>
          <p:nvPr/>
        </p:nvSpPr>
        <p:spPr>
          <a:xfrm>
            <a:off x="640080" y="3063240"/>
            <a:ext cx="26056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16"/>
          <p:cNvSpPr/>
          <p:nvPr/>
        </p:nvSpPr>
        <p:spPr>
          <a:xfrm>
            <a:off x="822960" y="3246120"/>
            <a:ext cx="456840" cy="45684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Image 3" descr="preencoded.png"/>
          <p:cNvPicPr/>
          <p:nvPr/>
        </p:nvPicPr>
        <p:blipFill>
          <a:blip r:embed="rId4"/>
          <a:stretch/>
        </p:blipFill>
        <p:spPr>
          <a:xfrm>
            <a:off x="914400" y="3337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7"/>
          <p:cNvSpPr/>
          <p:nvPr/>
        </p:nvSpPr>
        <p:spPr>
          <a:xfrm>
            <a:off x="1417320" y="3246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Data quality issues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822960" y="37490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Rehabilitation periods, breakdowns, and capacity changes create noise that must be carefully filtered.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3429000" y="3063240"/>
            <a:ext cx="26056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3611880" y="3246120"/>
            <a:ext cx="456840" cy="45684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2" name="Image 4" descr="preencoded.png"/>
          <p:cNvPicPr/>
          <p:nvPr/>
        </p:nvPicPr>
        <p:blipFill>
          <a:blip r:embed="rId5"/>
          <a:stretch/>
        </p:blipFill>
        <p:spPr>
          <a:xfrm>
            <a:off x="3703320" y="3337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21"/>
          <p:cNvSpPr/>
          <p:nvPr/>
        </p:nvSpPr>
        <p:spPr>
          <a:xfrm>
            <a:off x="4206240" y="3246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Per-attraction variation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3611880" y="37490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Each attraction has unique demand profiles — a one-size-fits-all model would fail.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3"/>
          <p:cNvSpPr/>
          <p:nvPr/>
        </p:nvSpPr>
        <p:spPr>
          <a:xfrm>
            <a:off x="6217920" y="3063240"/>
            <a:ext cx="260568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Shape 24"/>
          <p:cNvSpPr/>
          <p:nvPr/>
        </p:nvSpPr>
        <p:spPr>
          <a:xfrm>
            <a:off x="6400800" y="3246120"/>
            <a:ext cx="456840" cy="45684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Image 5" descr="preencoded.png"/>
          <p:cNvPicPr/>
          <p:nvPr/>
        </p:nvPicPr>
        <p:blipFill>
          <a:blip r:embed="rId6"/>
          <a:stretch/>
        </p:blipFill>
        <p:spPr>
          <a:xfrm>
            <a:off x="6492240" y="3337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5"/>
          <p:cNvSpPr/>
          <p:nvPr/>
        </p:nvSpPr>
        <p:spPr>
          <a:xfrm>
            <a:off x="6995160" y="3246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Medium-term horizon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6400800" y="37490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Forecasting days/weeks ahead (not minutes) requires capturing seasonal and weekly cycles, not just recent trends.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7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5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KEY SUCCESS FACTORS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What Will Make Us Succeed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380880" y="1280160"/>
            <a:ext cx="1965600" cy="32914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975240" y="1508760"/>
            <a:ext cx="731160" cy="73116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1121760" y="16549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5"/>
          <p:cNvSpPr/>
          <p:nvPr/>
        </p:nvSpPr>
        <p:spPr>
          <a:xfrm>
            <a:off x="518040" y="246888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Deep Client Partnership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518040" y="3063240"/>
            <a:ext cx="169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Continuous feedback loops with Euro-park's operations and data teams. We co-build, not just deliver.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2529720" y="1280160"/>
            <a:ext cx="1965600" cy="32914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3124080" y="1508760"/>
            <a:ext cx="731160" cy="73116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Image 1" descr="preencoded.png"/>
          <p:cNvPicPr/>
          <p:nvPr/>
        </p:nvPicPr>
        <p:blipFill>
          <a:blip r:embed="rId2"/>
          <a:stretch/>
        </p:blipFill>
        <p:spPr>
          <a:xfrm>
            <a:off x="3270600" y="16549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9"/>
          <p:cNvSpPr/>
          <p:nvPr/>
        </p:nvSpPr>
        <p:spPr>
          <a:xfrm>
            <a:off x="2666880" y="246888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Advanced ML Expertise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2666880" y="3063240"/>
            <a:ext cx="169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Battle-tested gradient boosting models (XGBoost, LightGBM, CatBoost) — the gold standard for structured tabular data.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4678560" y="1280160"/>
            <a:ext cx="1965600" cy="32914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5272920" y="1508760"/>
            <a:ext cx="731160" cy="73116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6" name="Image 2" descr="preencoded.png"/>
          <p:cNvPicPr/>
          <p:nvPr/>
        </p:nvPicPr>
        <p:blipFill>
          <a:blip r:embed="rId3"/>
          <a:stretch/>
        </p:blipFill>
        <p:spPr>
          <a:xfrm>
            <a:off x="5419440" y="16549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13"/>
          <p:cNvSpPr/>
          <p:nvPr/>
        </p:nvSpPr>
        <p:spPr>
          <a:xfrm>
            <a:off x="4815720" y="246888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Rigorous Data Engineering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4815720" y="3063240"/>
            <a:ext cx="169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Meticulous cleaning pipeline: filtering rehabs, breakdowns, and anomalies to train only on healthy operational data.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5"/>
          <p:cNvSpPr/>
          <p:nvPr/>
        </p:nvSpPr>
        <p:spPr>
          <a:xfrm>
            <a:off x="6827400" y="1280160"/>
            <a:ext cx="1965600" cy="32914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7421760" y="1508760"/>
            <a:ext cx="731160" cy="73116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1" name="Image 3" descr="preencoded.png"/>
          <p:cNvPicPr/>
          <p:nvPr/>
        </p:nvPicPr>
        <p:blipFill>
          <a:blip r:embed="rId4"/>
          <a:stretch/>
        </p:blipFill>
        <p:spPr>
          <a:xfrm>
            <a:off x="7568280" y="165492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17"/>
          <p:cNvSpPr/>
          <p:nvPr/>
        </p:nvSpPr>
        <p:spPr>
          <a:xfrm>
            <a:off x="6964560" y="246888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Business-First Thinking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6964560" y="3063240"/>
            <a:ext cx="169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Every technical choice driven by a business question. Forecasting is the means; improving NPS and revenue is the goal.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6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640080" y="5029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From Reactive to Predictive Operations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434520" y="1234440"/>
            <a:ext cx="375336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434520" y="1234440"/>
            <a:ext cx="3753360" cy="456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434520" y="12344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CURRENT PROCESS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0" descr="preencoded.png"/>
          <p:cNvPicPr/>
          <p:nvPr/>
        </p:nvPicPr>
        <p:blipFill>
          <a:blip r:embed="rId1"/>
          <a:stretch/>
        </p:blipFill>
        <p:spPr>
          <a:xfrm>
            <a:off x="571680" y="185616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 6"/>
          <p:cNvSpPr/>
          <p:nvPr/>
        </p:nvSpPr>
        <p:spPr>
          <a:xfrm>
            <a:off x="1009440" y="1911240"/>
            <a:ext cx="303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Static staffing based on calendar season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1" descr="preencoded.png"/>
          <p:cNvPicPr/>
          <p:nvPr/>
        </p:nvPicPr>
        <p:blipFill>
          <a:blip r:embed="rId2"/>
          <a:stretch/>
        </p:blipFill>
        <p:spPr>
          <a:xfrm>
            <a:off x="571680" y="24048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7"/>
          <p:cNvSpPr/>
          <p:nvPr/>
        </p:nvSpPr>
        <p:spPr>
          <a:xfrm>
            <a:off x="1009440" y="2446200"/>
            <a:ext cx="303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No real-time or predictive visibility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2" descr="preencoded.png"/>
          <p:cNvPicPr/>
          <p:nvPr/>
        </p:nvPicPr>
        <p:blipFill>
          <a:blip r:embed="rId3"/>
          <a:stretch/>
        </p:blipFill>
        <p:spPr>
          <a:xfrm>
            <a:off x="571680" y="295344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8"/>
          <p:cNvSpPr/>
          <p:nvPr/>
        </p:nvSpPr>
        <p:spPr>
          <a:xfrm>
            <a:off x="1009440" y="3017520"/>
            <a:ext cx="303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Reactive when queues spike </a:t>
            </a:r>
            <a:r>
              <a:rPr lang="en-GB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instead of preventing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3" descr="preencoded.png"/>
          <p:cNvPicPr/>
          <p:nvPr/>
        </p:nvPicPr>
        <p:blipFill>
          <a:blip r:embed="rId4"/>
          <a:stretch/>
        </p:blipFill>
        <p:spPr>
          <a:xfrm>
            <a:off x="571680" y="35020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9"/>
          <p:cNvSpPr/>
          <p:nvPr/>
        </p:nvSpPr>
        <p:spPr>
          <a:xfrm>
            <a:off x="1009440" y="3555360"/>
            <a:ext cx="303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Standardized treatment of attractions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4" descr="preencoded.png"/>
          <p:cNvPicPr/>
          <p:nvPr/>
        </p:nvPicPr>
        <p:blipFill>
          <a:blip r:embed="rId5"/>
          <a:stretch/>
        </p:blipFill>
        <p:spPr>
          <a:xfrm>
            <a:off x="571680" y="40507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10"/>
          <p:cNvSpPr/>
          <p:nvPr/>
        </p:nvSpPr>
        <p:spPr>
          <a:xfrm>
            <a:off x="1009440" y="4101120"/>
            <a:ext cx="3036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Guest complaints drive changes post-hoc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5" descr="preencoded.png"/>
          <p:cNvPicPr/>
          <p:nvPr/>
        </p:nvPicPr>
        <p:blipFill>
          <a:blip r:embed="rId6"/>
          <a:stretch/>
        </p:blipFill>
        <p:spPr>
          <a:xfrm>
            <a:off x="4251960" y="2724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Shape 11"/>
          <p:cNvSpPr/>
          <p:nvPr/>
        </p:nvSpPr>
        <p:spPr>
          <a:xfrm>
            <a:off x="4777920" y="1234440"/>
            <a:ext cx="393156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Shape 12"/>
          <p:cNvSpPr/>
          <p:nvPr/>
        </p:nvSpPr>
        <p:spPr>
          <a:xfrm>
            <a:off x="4777920" y="1234440"/>
            <a:ext cx="3931560" cy="4568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4777920" y="123444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ENHANCED PROCESS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6" descr="preencoded.png"/>
          <p:cNvPicPr/>
          <p:nvPr/>
        </p:nvPicPr>
        <p:blipFill>
          <a:blip r:embed="rId7"/>
          <a:stretch/>
        </p:blipFill>
        <p:spPr>
          <a:xfrm>
            <a:off x="5006520" y="185616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14"/>
          <p:cNvSpPr/>
          <p:nvPr/>
        </p:nvSpPr>
        <p:spPr>
          <a:xfrm>
            <a:off x="5372280" y="188352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Dynamic staffing driven by ML forecasts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7" descr="preencoded.png"/>
          <p:cNvPicPr/>
          <p:nvPr/>
        </p:nvPicPr>
        <p:blipFill>
          <a:blip r:embed="rId8"/>
          <a:stretch/>
        </p:blipFill>
        <p:spPr>
          <a:xfrm>
            <a:off x="5006520" y="24048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15"/>
          <p:cNvSpPr/>
          <p:nvPr/>
        </p:nvSpPr>
        <p:spPr>
          <a:xfrm>
            <a:off x="5372280" y="24321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Predicted wait times days/weeks ahead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8" descr="preencoded.png"/>
          <p:cNvPicPr/>
          <p:nvPr/>
        </p:nvPicPr>
        <p:blipFill>
          <a:blip r:embed="rId9"/>
          <a:stretch/>
        </p:blipFill>
        <p:spPr>
          <a:xfrm>
            <a:off x="5006520" y="295344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16"/>
          <p:cNvSpPr/>
          <p:nvPr/>
        </p:nvSpPr>
        <p:spPr>
          <a:xfrm>
            <a:off x="5372280" y="29962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Proactive crowd redistribution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9" descr="preencoded.png"/>
          <p:cNvPicPr/>
          <p:nvPr/>
        </p:nvPicPr>
        <p:blipFill>
          <a:blip r:embed="rId10"/>
          <a:stretch/>
        </p:blipFill>
        <p:spPr>
          <a:xfrm>
            <a:off x="5006520" y="35020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17"/>
          <p:cNvSpPr/>
          <p:nvPr/>
        </p:nvSpPr>
        <p:spPr>
          <a:xfrm>
            <a:off x="5372280" y="35294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Per-attraction tailored model instance (×23)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10" descr="preencoded.png"/>
          <p:cNvPicPr/>
          <p:nvPr/>
        </p:nvPicPr>
        <p:blipFill>
          <a:blip r:embed="rId11"/>
          <a:stretch/>
        </p:blipFill>
        <p:spPr>
          <a:xfrm>
            <a:off x="5006520" y="40507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18"/>
          <p:cNvSpPr/>
          <p:nvPr/>
        </p:nvSpPr>
        <p:spPr>
          <a:xfrm>
            <a:off x="5372280" y="40996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Data-driven continuous improvement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7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Our Technical 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457200" y="123444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1143000" y="1417320"/>
            <a:ext cx="594000" cy="59400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1143000" y="14173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59436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Data Ingestion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&amp; Cleaning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594360" y="2788920"/>
            <a:ext cx="1691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Merge 6 datasets. Filter rehab periods, breakdowns, zero-capacity records. 3.5M → 2M clean rows.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0" descr="preencoded.png"/>
          <p:cNvPicPr/>
          <p:nvPr/>
        </p:nvPicPr>
        <p:blipFill>
          <a:blip r:embed="rId1"/>
          <a:stretch/>
        </p:blipFill>
        <p:spPr>
          <a:xfrm>
            <a:off x="2423160" y="2240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Shape 8"/>
          <p:cNvSpPr/>
          <p:nvPr/>
        </p:nvSpPr>
        <p:spPr>
          <a:xfrm>
            <a:off x="2651760" y="123444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3337560" y="1417320"/>
            <a:ext cx="594000" cy="59400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3337560" y="14173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278892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Feature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Engineering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2788920" y="2788920"/>
            <a:ext cx="1691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54 features: temporal (hour, DOW, season), weather, attendance, capacity utilization, target encoding.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" descr="preencoded.png"/>
          <p:cNvPicPr/>
          <p:nvPr/>
        </p:nvPicPr>
        <p:blipFill>
          <a:blip r:embed="rId2"/>
          <a:stretch/>
        </p:blipFill>
        <p:spPr>
          <a:xfrm>
            <a:off x="4617720" y="2240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Shape 13"/>
          <p:cNvSpPr/>
          <p:nvPr/>
        </p:nvSpPr>
        <p:spPr>
          <a:xfrm>
            <a:off x="4846320" y="123444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Shape 14"/>
          <p:cNvSpPr/>
          <p:nvPr/>
        </p:nvSpPr>
        <p:spPr>
          <a:xfrm>
            <a:off x="5532120" y="1417320"/>
            <a:ext cx="594000" cy="59400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5532120" y="14173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6"/>
          <p:cNvSpPr/>
          <p:nvPr/>
        </p:nvSpPr>
        <p:spPr>
          <a:xfrm>
            <a:off x="498348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Model Training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&amp; 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4983480" y="2788920"/>
            <a:ext cx="1691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Expanding-window CV (5 folds). XGBoost, LightGBM, CatBoost. Per-attraction model instance training.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2" descr="preencoded.png"/>
          <p:cNvPicPr/>
          <p:nvPr/>
        </p:nvPicPr>
        <p:blipFill>
          <a:blip r:embed="rId3"/>
          <a:stretch/>
        </p:blipFill>
        <p:spPr>
          <a:xfrm>
            <a:off x="6812280" y="2240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Shape 18"/>
          <p:cNvSpPr/>
          <p:nvPr/>
        </p:nvSpPr>
        <p:spPr>
          <a:xfrm>
            <a:off x="7040880" y="123444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Shape 19"/>
          <p:cNvSpPr/>
          <p:nvPr/>
        </p:nvSpPr>
        <p:spPr>
          <a:xfrm>
            <a:off x="7726680" y="1417320"/>
            <a:ext cx="594000" cy="594000"/>
          </a:xfrm>
          <a:prstGeom prst="ellipse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 20"/>
          <p:cNvSpPr/>
          <p:nvPr/>
        </p:nvSpPr>
        <p:spPr>
          <a:xfrm>
            <a:off x="7726680" y="14173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1"/>
          <p:cNvSpPr/>
          <p:nvPr/>
        </p:nvSpPr>
        <p:spPr>
          <a:xfrm>
            <a:off x="717804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Evaluation &amp;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Selection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2"/>
          <p:cNvSpPr/>
          <p:nvPr/>
        </p:nvSpPr>
        <p:spPr>
          <a:xfrm>
            <a:off x="7178040" y="2788920"/>
            <a:ext cx="1691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MAE/RMSE on held-out week. Model comparison. Best model deployed.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3"/>
          <p:cNvSpPr/>
          <p:nvPr/>
        </p:nvSpPr>
        <p:spPr>
          <a:xfrm>
            <a:off x="457200" y="4160520"/>
            <a:ext cx="8229240" cy="639720"/>
          </a:xfrm>
          <a:prstGeom prst="rect">
            <a:avLst/>
          </a:prstGeom>
          <a:solidFill>
            <a:srgbClr val="0f2b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640080" y="416052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4a3a8"/>
                </a:solidFill>
                <a:effectLst/>
                <a:uFillTx/>
                <a:latin typeface="Calibri"/>
                <a:ea typeface="Calibri"/>
              </a:rPr>
              <a:t>8 final features  ·  Target encoding at 15-min granularity  ·  MAE-optimized  ·  </a:t>
            </a:r>
            <a:r>
              <a:rPr lang="en-US" sz="1100" b="0" u="none" strike="noStrike">
                <a:solidFill>
                  <a:srgbClr val="14a3a8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</a:rPr>
              <a:t>Non-negative predictions enforced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8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Preliminary EDA Insights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8" name="Chart 0"/>
          <p:cNvGraphicFramePr/>
          <p:nvPr/>
        </p:nvGraphicFramePr>
        <p:xfrm>
          <a:off x="457200" y="1097280"/>
          <a:ext cx="3931560" cy="228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9" name="Chart 1"/>
          <p:cNvGraphicFramePr/>
          <p:nvPr/>
        </p:nvGraphicFramePr>
        <p:xfrm>
          <a:off x="4754880" y="1097280"/>
          <a:ext cx="3931560" cy="228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0" name="Shape 3"/>
          <p:cNvSpPr/>
          <p:nvPr/>
        </p:nvSpPr>
        <p:spPr>
          <a:xfrm>
            <a:off x="457200" y="3520440"/>
            <a:ext cx="8229240" cy="1234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457200" y="3520440"/>
            <a:ext cx="63720" cy="123408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731520" y="35661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Key Takeaways from EDA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731520" y="3886200"/>
            <a:ext cx="7772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Peak hours occur between 12:00–15:00 with a clear bell-curve pattern — models must capture intra-day dynamics at 15-min resolution.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Saturday is by far the busiest day (~31 min avg), while mid-week days are lowest (~17 min). Weekend/holiday encoding is critical.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Top 3 attractions (Spiral Slide, Free Fall, Giant Wheel) average 47–57 min — these need dedicated optimization attention.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9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Feature Selection &amp; Engineering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457200" y="118872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Shape 4"/>
          <p:cNvSpPr/>
          <p:nvPr/>
        </p:nvSpPr>
        <p:spPr>
          <a:xfrm>
            <a:off x="594360" y="1325880"/>
            <a:ext cx="1096920" cy="2556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594360" y="13258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ENGINEERED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preencoded.png"/>
          <p:cNvPicPr/>
          <p:nvPr/>
        </p:nvPicPr>
        <p:blipFill>
          <a:blip r:embed="rId1"/>
          <a:stretch/>
        </p:blipFill>
        <p:spPr>
          <a:xfrm>
            <a:off x="640080" y="1737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6"/>
          <p:cNvSpPr/>
          <p:nvPr/>
        </p:nvSpPr>
        <p:spPr>
          <a:xfrm>
            <a:off x="1005840" y="16916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Typical Wait Profile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59436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Target-encoded avg wait by attraction, DOW, and 15-min block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8"/>
          <p:cNvSpPr/>
          <p:nvPr/>
        </p:nvSpPr>
        <p:spPr>
          <a:xfrm>
            <a:off x="2606040" y="118872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2743200" y="1325880"/>
            <a:ext cx="1096920" cy="25560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2743200" y="13258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DEMAND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1" descr="preencoded.png"/>
          <p:cNvPicPr/>
          <p:nvPr/>
        </p:nvPicPr>
        <p:blipFill>
          <a:blip r:embed="rId2"/>
          <a:stretch/>
        </p:blipFill>
        <p:spPr>
          <a:xfrm>
            <a:off x="2788920" y="1737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11"/>
          <p:cNvSpPr/>
          <p:nvPr/>
        </p:nvSpPr>
        <p:spPr>
          <a:xfrm>
            <a:off x="3154680" y="16916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Attendance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274320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Daily park attendance — strongest demand proxy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4754880" y="118872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Shape 14"/>
          <p:cNvSpPr/>
          <p:nvPr/>
        </p:nvSpPr>
        <p:spPr>
          <a:xfrm>
            <a:off x="4892040" y="1325880"/>
            <a:ext cx="1096920" cy="255600"/>
          </a:xfrm>
          <a:prstGeom prst="rect">
            <a:avLst/>
          </a:prstGeom>
          <a:solidFill>
            <a:srgbClr val="14a3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4892040" y="13258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OPERATIONAL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 2" descr="preencoded.png"/>
          <p:cNvPicPr/>
          <p:nvPr/>
        </p:nvPicPr>
        <p:blipFill>
          <a:blip r:embed="rId3"/>
          <a:stretch/>
        </p:blipFill>
        <p:spPr>
          <a:xfrm>
            <a:off x="4937760" y="1737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 16"/>
          <p:cNvSpPr/>
          <p:nvPr/>
        </p:nvSpPr>
        <p:spPr>
          <a:xfrm>
            <a:off x="5303520" y="16916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Open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7"/>
          <p:cNvSpPr/>
          <p:nvPr/>
        </p:nvSpPr>
        <p:spPr>
          <a:xfrm>
            <a:off x="489204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Total scheduled operating time for the day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8"/>
          <p:cNvSpPr/>
          <p:nvPr/>
        </p:nvSpPr>
        <p:spPr>
          <a:xfrm>
            <a:off x="6903720" y="118872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Shape 19"/>
          <p:cNvSpPr/>
          <p:nvPr/>
        </p:nvSpPr>
        <p:spPr>
          <a:xfrm>
            <a:off x="7040880" y="1325880"/>
            <a:ext cx="1096920" cy="255600"/>
          </a:xfrm>
          <a:prstGeom prst="rect">
            <a:avLst/>
          </a:prstGeom>
          <a:solidFill>
            <a:srgbClr val="14a3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 20"/>
          <p:cNvSpPr/>
          <p:nvPr/>
        </p:nvSpPr>
        <p:spPr>
          <a:xfrm>
            <a:off x="7040880" y="13258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OPERATIONAL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3" descr="preencoded.png"/>
          <p:cNvPicPr/>
          <p:nvPr/>
        </p:nvPicPr>
        <p:blipFill>
          <a:blip r:embed="rId4"/>
          <a:stretch/>
        </p:blipFill>
        <p:spPr>
          <a:xfrm>
            <a:off x="7086600" y="1737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21"/>
          <p:cNvSpPr/>
          <p:nvPr/>
        </p:nvSpPr>
        <p:spPr>
          <a:xfrm>
            <a:off x="7452360" y="169164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Up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7040880" y="214884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Actual operating time (excludes downtime)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457200" y="306324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Shape 24"/>
          <p:cNvSpPr/>
          <p:nvPr/>
        </p:nvSpPr>
        <p:spPr>
          <a:xfrm>
            <a:off x="594360" y="3200400"/>
            <a:ext cx="1096920" cy="25560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 25"/>
          <p:cNvSpPr/>
          <p:nvPr/>
        </p:nvSpPr>
        <p:spPr>
          <a:xfrm>
            <a:off x="594360" y="320040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WEATHER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4" descr="preencoded.png"/>
          <p:cNvPicPr/>
          <p:nvPr/>
        </p:nvPicPr>
        <p:blipFill>
          <a:blip r:embed="rId5"/>
          <a:stretch/>
        </p:blipFill>
        <p:spPr>
          <a:xfrm>
            <a:off x="640080" y="3611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26"/>
          <p:cNvSpPr/>
          <p:nvPr/>
        </p:nvSpPr>
        <p:spPr>
          <a:xfrm>
            <a:off x="1005840" y="356616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Temperature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7"/>
          <p:cNvSpPr/>
          <p:nvPr/>
        </p:nvSpPr>
        <p:spPr>
          <a:xfrm>
            <a:off x="594360" y="402336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Hourly temperature — affects outdoor ride demand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8"/>
          <p:cNvSpPr/>
          <p:nvPr/>
        </p:nvSpPr>
        <p:spPr>
          <a:xfrm>
            <a:off x="2606040" y="306324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Shape 29"/>
          <p:cNvSpPr/>
          <p:nvPr/>
        </p:nvSpPr>
        <p:spPr>
          <a:xfrm>
            <a:off x="2743200" y="3200400"/>
            <a:ext cx="1096920" cy="255600"/>
          </a:xfrm>
          <a:prstGeom prst="rect">
            <a:avLst/>
          </a:prstGeom>
          <a:solidFill>
            <a:srgbClr val="5b8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30"/>
          <p:cNvSpPr/>
          <p:nvPr/>
        </p:nvSpPr>
        <p:spPr>
          <a:xfrm>
            <a:off x="2743200" y="320040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WEATHER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5" descr="preencoded.png"/>
          <p:cNvPicPr/>
          <p:nvPr/>
        </p:nvPicPr>
        <p:blipFill>
          <a:blip r:embed="rId6"/>
          <a:stretch/>
        </p:blipFill>
        <p:spPr>
          <a:xfrm>
            <a:off x="2788920" y="3611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31"/>
          <p:cNvSpPr/>
          <p:nvPr/>
        </p:nvSpPr>
        <p:spPr>
          <a:xfrm>
            <a:off x="3154680" y="356616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Rain (1h)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2"/>
          <p:cNvSpPr/>
          <p:nvPr/>
        </p:nvSpPr>
        <p:spPr>
          <a:xfrm>
            <a:off x="2743200" y="402336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Hourly precipitation — rain reduces queues for outdoor rides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3"/>
          <p:cNvSpPr/>
          <p:nvPr/>
        </p:nvSpPr>
        <p:spPr>
          <a:xfrm>
            <a:off x="4754880" y="306324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Shape 34"/>
          <p:cNvSpPr/>
          <p:nvPr/>
        </p:nvSpPr>
        <p:spPr>
          <a:xfrm>
            <a:off x="4892040" y="3200400"/>
            <a:ext cx="1096920" cy="255600"/>
          </a:xfrm>
          <a:prstGeom prst="rect">
            <a:avLst/>
          </a:prstGeom>
          <a:solidFill>
            <a:srgbClr val="0f2b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 35"/>
          <p:cNvSpPr/>
          <p:nvPr/>
        </p:nvSpPr>
        <p:spPr>
          <a:xfrm>
            <a:off x="4892040" y="320040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TEMPORAL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6" descr="preencoded.png"/>
          <p:cNvPicPr/>
          <p:nvPr/>
        </p:nvPicPr>
        <p:blipFill>
          <a:blip r:embed="rId7"/>
          <a:stretch/>
        </p:blipFill>
        <p:spPr>
          <a:xfrm>
            <a:off x="4937760" y="3611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36"/>
          <p:cNvSpPr/>
          <p:nvPr/>
        </p:nvSpPr>
        <p:spPr>
          <a:xfrm>
            <a:off x="5303520" y="356616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Month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7"/>
          <p:cNvSpPr/>
          <p:nvPr/>
        </p:nvSpPr>
        <p:spPr>
          <a:xfrm>
            <a:off x="4892040" y="402336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Captures seasonal patterns (summer peaks, winter lows)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8"/>
          <p:cNvSpPr/>
          <p:nvPr/>
        </p:nvSpPr>
        <p:spPr>
          <a:xfrm>
            <a:off x="6903720" y="3063240"/>
            <a:ext cx="196560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Shape 39"/>
          <p:cNvSpPr/>
          <p:nvPr/>
        </p:nvSpPr>
        <p:spPr>
          <a:xfrm>
            <a:off x="7040880" y="3200400"/>
            <a:ext cx="1096920" cy="255600"/>
          </a:xfrm>
          <a:prstGeom prst="rect">
            <a:avLst/>
          </a:prstGeom>
          <a:solidFill>
            <a:srgbClr val="0f2b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 40"/>
          <p:cNvSpPr/>
          <p:nvPr/>
        </p:nvSpPr>
        <p:spPr>
          <a:xfrm>
            <a:off x="7040880" y="320040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TEMPORAL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7" descr="preencoded.png"/>
          <p:cNvPicPr/>
          <p:nvPr/>
        </p:nvPicPr>
        <p:blipFill>
          <a:blip r:embed="rId8"/>
          <a:stretch/>
        </p:blipFill>
        <p:spPr>
          <a:xfrm>
            <a:off x="7086600" y="3611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41"/>
          <p:cNvSpPr/>
          <p:nvPr/>
        </p:nvSpPr>
        <p:spPr>
          <a:xfrm>
            <a:off x="7452360" y="356616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Day Category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2"/>
          <p:cNvSpPr/>
          <p:nvPr/>
        </p:nvSpPr>
        <p:spPr>
          <a:xfrm>
            <a:off x="7040880" y="402336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0=weekday, 1=weekend, 2=holiday — key demand driver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3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10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Model Comparison Results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0" name="Table 0"/>
          <p:cNvGraphicFramePr/>
          <p:nvPr/>
        </p:nvGraphicFramePr>
        <p:xfrm>
          <a:off x="457200" y="1097280"/>
          <a:ext cx="758916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560320"/>
                <a:gridCol w="109728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Model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Approach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Strengths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Status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0f2b46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3d4f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Gradient boosting with regularization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3d4f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Robust, handles missing data, strong baseline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LightGBM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3d4f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Leaf-wise growth, faster training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3d4f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Faster convergence, efficient on large data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solidFill>
                      <a:srgbClr val="e8ecf1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CatBoost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3d4f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Ordered boosting, native categoricals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3d4f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Handles categorical features natively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0d737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Tested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8ecf1"/>
                      </a:solidFill>
                      <a:prstDash val="solid"/>
                    </a:lnL>
                    <a:lnR w="6480">
                      <a:solidFill>
                        <a:srgbClr val="e8ecf1"/>
                      </a:solidFill>
                      <a:prstDash val="solid"/>
                    </a:lnR>
                    <a:lnT w="6480">
                      <a:solidFill>
                        <a:srgbClr val="e8ecf1"/>
                      </a:solidFill>
                      <a:prstDash val="solid"/>
                    </a:lnT>
                    <a:lnB w="6480">
                      <a:solidFill>
                        <a:srgbClr val="e8ecf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1" name="Shape 3"/>
          <p:cNvSpPr/>
          <p:nvPr/>
        </p:nvSpPr>
        <p:spPr>
          <a:xfrm>
            <a:off x="457200" y="3246120"/>
            <a:ext cx="3931560" cy="155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Shape 4"/>
          <p:cNvSpPr/>
          <p:nvPr/>
        </p:nvSpPr>
        <p:spPr>
          <a:xfrm>
            <a:off x="457200" y="3246120"/>
            <a:ext cx="63720" cy="15541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731520" y="32918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Validation Strategy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6"/>
          <p:cNvSpPr/>
          <p:nvPr/>
        </p:nvSpPr>
        <p:spPr>
          <a:xfrm>
            <a:off x="731520" y="3657600"/>
            <a:ext cx="3474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Expanding-window cross-validation with 5 folds of 7-day test windows. Models trained on all historical data up to each fold cutoff, tested on the following week. Final holdout: last 7 days of dataset (Aug 11–18, 2022).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7"/>
          <p:cNvSpPr/>
          <p:nvPr/>
        </p:nvSpPr>
        <p:spPr>
          <a:xfrm>
            <a:off x="4754880" y="3246120"/>
            <a:ext cx="3931560" cy="1554120"/>
          </a:xfrm>
          <a:prstGeom prst="rect">
            <a:avLst/>
          </a:prstGeom>
          <a:solidFill>
            <a:srgbClr val="0f2b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 8"/>
          <p:cNvSpPr/>
          <p:nvPr/>
        </p:nvSpPr>
        <p:spPr>
          <a:xfrm>
            <a:off x="4937760" y="329184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4a261"/>
                </a:solidFill>
                <a:effectLst/>
                <a:uFillTx/>
                <a:latin typeface="Trebuchet MS"/>
                <a:ea typeface="Trebuchet MS"/>
              </a:rPr>
              <a:t>EVALUATION METRICS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4937760" y="3657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MAE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4937760" y="411480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Mean Absolute Error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Avg deviation in minutes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6766560" y="3657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RMSE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2"/>
          <p:cNvSpPr/>
          <p:nvPr/>
        </p:nvSpPr>
        <p:spPr>
          <a:xfrm>
            <a:off x="6766560" y="411480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Root Mean Squared Error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Penalizes large errors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3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11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LIVE DEMO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Forecasting Dashboard Preview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640080" y="1188720"/>
            <a:ext cx="786348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640080" y="1188720"/>
            <a:ext cx="7863480" cy="4111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822960" y="1188720"/>
            <a:ext cx="7497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Euro-park  |  Wait Time Forecast Dashboard  |  PortAventura World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8" name="Chart 0"/>
          <p:cNvGraphicFramePr/>
          <p:nvPr/>
        </p:nvGraphicFramePr>
        <p:xfrm>
          <a:off x="822960" y="1737360"/>
          <a:ext cx="5028840" cy="2468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9" name="Shape 6"/>
          <p:cNvSpPr/>
          <p:nvPr/>
        </p:nvSpPr>
        <p:spPr>
          <a:xfrm>
            <a:off x="6126480" y="1828800"/>
            <a:ext cx="2194200" cy="639720"/>
          </a:xfrm>
          <a:prstGeom prst="rect">
            <a:avLst/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6126480" y="1828800"/>
            <a:ext cx="54360" cy="6397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6309360" y="18471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MAE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6309360" y="21031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6.2 min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0"/>
          <p:cNvSpPr/>
          <p:nvPr/>
        </p:nvSpPr>
        <p:spPr>
          <a:xfrm>
            <a:off x="6126480" y="2606040"/>
            <a:ext cx="2194200" cy="639720"/>
          </a:xfrm>
          <a:prstGeom prst="rect">
            <a:avLst/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6126480" y="2606040"/>
            <a:ext cx="54360" cy="639720"/>
          </a:xfrm>
          <a:prstGeom prst="rect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6309360" y="2624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Peak Predicted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6309360" y="28803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58 min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4"/>
          <p:cNvSpPr/>
          <p:nvPr/>
        </p:nvSpPr>
        <p:spPr>
          <a:xfrm>
            <a:off x="6126480" y="3383280"/>
            <a:ext cx="2194200" cy="639720"/>
          </a:xfrm>
          <a:prstGeom prst="rect">
            <a:avLst/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6126480" y="3383280"/>
            <a:ext cx="54360" cy="6397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 16"/>
          <p:cNvSpPr/>
          <p:nvPr/>
        </p:nvSpPr>
        <p:spPr>
          <a:xfrm>
            <a:off x="6309360" y="34016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Best Visit Time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6309360" y="36576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Before 10AM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640080" y="4526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14a3a8"/>
                </a:solidFill>
                <a:effectLst/>
                <a:uFillTx/>
                <a:latin typeface="Calibri"/>
                <a:ea typeface="Calibri"/>
              </a:rPr>
              <a:t>Live demo will be shown during the presentation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9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12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POC Scope: Full-Code Approach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457200" y="1188720"/>
            <a:ext cx="2651400" cy="3657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457200" y="1188720"/>
            <a:ext cx="2651400" cy="456840"/>
          </a:xfrm>
          <a:prstGeom prst="rect">
            <a:avLst/>
          </a:prstGeom>
          <a:solidFill>
            <a:srgbClr val="8899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457200" y="11887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No-Code / Low-Code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594360" y="17373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Advantages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594360" y="201168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Quick setup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Visual interface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Accessible to non-tech teams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594360" y="29260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76f51"/>
                </a:solidFill>
                <a:effectLst/>
                <a:uFillTx/>
                <a:latin typeface="Trebuchet MS"/>
                <a:ea typeface="Trebuchet MS"/>
              </a:rPr>
              <a:t>Drawbacks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9"/>
          <p:cNvSpPr/>
          <p:nvPr/>
        </p:nvSpPr>
        <p:spPr>
          <a:xfrm>
            <a:off x="594360" y="320040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Limited customization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Black-box models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Scalability ceiling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Weak on complex feature eng.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0"/>
          <p:cNvSpPr/>
          <p:nvPr/>
        </p:nvSpPr>
        <p:spPr>
          <a:xfrm>
            <a:off x="594360" y="42976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i="1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Not selected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1"/>
          <p:cNvSpPr/>
          <p:nvPr/>
        </p:nvSpPr>
        <p:spPr>
          <a:xfrm>
            <a:off x="3291840" y="1188720"/>
            <a:ext cx="2651400" cy="3657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5" name="Shape 12"/>
          <p:cNvSpPr/>
          <p:nvPr/>
        </p:nvSpPr>
        <p:spPr>
          <a:xfrm>
            <a:off x="3291840" y="1188720"/>
            <a:ext cx="2651400" cy="45684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 13"/>
          <p:cNvSpPr/>
          <p:nvPr/>
        </p:nvSpPr>
        <p:spPr>
          <a:xfrm>
            <a:off x="3291840" y="11887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Full-Code (Selected)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3429000" y="17373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Advantages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5"/>
          <p:cNvSpPr/>
          <p:nvPr/>
        </p:nvSpPr>
        <p:spPr>
          <a:xfrm>
            <a:off x="3429000" y="201168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Full control over pipeline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Custom feature engineering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Per-attraction models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Reproducible &amp; versionable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6"/>
          <p:cNvSpPr/>
          <p:nvPr/>
        </p:nvSpPr>
        <p:spPr>
          <a:xfrm>
            <a:off x="3429000" y="29260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76f51"/>
                </a:solidFill>
                <a:effectLst/>
                <a:uFillTx/>
                <a:latin typeface="Trebuchet MS"/>
                <a:ea typeface="Trebuchet MS"/>
              </a:rPr>
              <a:t>Drawbacks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7"/>
          <p:cNvSpPr/>
          <p:nvPr/>
        </p:nvSpPr>
        <p:spPr>
          <a:xfrm>
            <a:off x="3429000" y="320040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Requires ML expertise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Longer initial setup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Ongoing maintenance needed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8"/>
          <p:cNvSpPr/>
          <p:nvPr/>
        </p:nvSpPr>
        <p:spPr>
          <a:xfrm>
            <a:off x="3429000" y="42976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i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Our recommendation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9"/>
          <p:cNvSpPr/>
          <p:nvPr/>
        </p:nvSpPr>
        <p:spPr>
          <a:xfrm>
            <a:off x="6126480" y="1188720"/>
            <a:ext cx="2651400" cy="3657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3" name="Shape 20"/>
          <p:cNvSpPr/>
          <p:nvPr/>
        </p:nvSpPr>
        <p:spPr>
          <a:xfrm>
            <a:off x="6126480" y="1188720"/>
            <a:ext cx="265140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 21"/>
          <p:cNvSpPr/>
          <p:nvPr/>
        </p:nvSpPr>
        <p:spPr>
          <a:xfrm>
            <a:off x="6126480" y="11887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Hybrid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2"/>
          <p:cNvSpPr/>
          <p:nvPr/>
        </p:nvSpPr>
        <p:spPr>
          <a:xfrm>
            <a:off x="6263640" y="17373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d7377"/>
                </a:solidFill>
                <a:effectLst/>
                <a:uFillTx/>
                <a:latin typeface="Trebuchet MS"/>
                <a:ea typeface="Trebuchet MS"/>
              </a:rPr>
              <a:t>Advantages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3"/>
          <p:cNvSpPr/>
          <p:nvPr/>
        </p:nvSpPr>
        <p:spPr>
          <a:xfrm>
            <a:off x="6263640" y="201168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Balances speed &amp; control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Low-code for dashboards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Code for core 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4"/>
          <p:cNvSpPr/>
          <p:nvPr/>
        </p:nvSpPr>
        <p:spPr>
          <a:xfrm>
            <a:off x="6263640" y="29260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76f51"/>
                </a:solidFill>
                <a:effectLst/>
                <a:uFillTx/>
                <a:latin typeface="Trebuchet MS"/>
                <a:ea typeface="Trebuchet MS"/>
              </a:rPr>
              <a:t>Drawbacks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5"/>
          <p:cNvSpPr/>
          <p:nvPr/>
        </p:nvSpPr>
        <p:spPr>
          <a:xfrm>
            <a:off x="6263640" y="320040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Integration complexity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Vendor lock-in risk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Dual skill requirements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6"/>
          <p:cNvSpPr/>
          <p:nvPr/>
        </p:nvSpPr>
        <p:spPr>
          <a:xfrm>
            <a:off x="6263640" y="42976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i="1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Phase 2 option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7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13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Potential Hurdles &amp; Mitigations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457200" y="1188720"/>
            <a:ext cx="822924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594360" y="1417320"/>
            <a:ext cx="776880" cy="292320"/>
          </a:xfrm>
          <a:prstGeom prst="rect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594360" y="141732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HIGH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1554480" y="12344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COVID data contamination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0" descr="preencoded.png"/>
          <p:cNvPicPr/>
          <p:nvPr/>
        </p:nvPicPr>
        <p:blipFill>
          <a:blip r:embed="rId1"/>
          <a:stretch/>
        </p:blipFill>
        <p:spPr>
          <a:xfrm>
            <a:off x="4206240" y="14173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7"/>
          <p:cNvSpPr/>
          <p:nvPr/>
        </p:nvSpPr>
        <p:spPr>
          <a:xfrm>
            <a:off x="4572000" y="1234440"/>
            <a:ext cx="3931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Isolate 2020–2021 data. Test model with and without pandemic periods. Use post-COVID patterns as baseline.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457200" y="2103120"/>
            <a:ext cx="822924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594360" y="2331720"/>
            <a:ext cx="776880" cy="2923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594360" y="233172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MEDIUM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1"/>
          <p:cNvSpPr/>
          <p:nvPr/>
        </p:nvSpPr>
        <p:spPr>
          <a:xfrm>
            <a:off x="1554480" y="21488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Cold-start for new attractions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 1" descr="preencoded.png"/>
          <p:cNvPicPr/>
          <p:nvPr/>
        </p:nvPicPr>
        <p:blipFill>
          <a:blip r:embed="rId2"/>
          <a:stretch/>
        </p:blipFill>
        <p:spPr>
          <a:xfrm>
            <a:off x="4206240" y="23317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12"/>
          <p:cNvSpPr/>
          <p:nvPr/>
        </p:nvSpPr>
        <p:spPr>
          <a:xfrm>
            <a:off x="4572000" y="2148840"/>
            <a:ext cx="3931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Transfer learning from similar ride types. Use category-level features until enough data accumulates.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3"/>
          <p:cNvSpPr/>
          <p:nvPr/>
        </p:nvSpPr>
        <p:spPr>
          <a:xfrm>
            <a:off x="457200" y="3017520"/>
            <a:ext cx="822924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7" name="Shape 14"/>
          <p:cNvSpPr/>
          <p:nvPr/>
        </p:nvSpPr>
        <p:spPr>
          <a:xfrm>
            <a:off x="594360" y="3246120"/>
            <a:ext cx="776880" cy="2923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 15"/>
          <p:cNvSpPr/>
          <p:nvPr/>
        </p:nvSpPr>
        <p:spPr>
          <a:xfrm>
            <a:off x="594360" y="324612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LOW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6"/>
          <p:cNvSpPr/>
          <p:nvPr/>
        </p:nvSpPr>
        <p:spPr>
          <a:xfrm>
            <a:off x="1554480" y="3063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External event unpredictability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0" name="Image 2" descr="preencoded.png"/>
          <p:cNvPicPr/>
          <p:nvPr/>
        </p:nvPicPr>
        <p:blipFill>
          <a:blip r:embed="rId3"/>
          <a:stretch/>
        </p:blipFill>
        <p:spPr>
          <a:xfrm>
            <a:off x="4206240" y="32461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17"/>
          <p:cNvSpPr/>
          <p:nvPr/>
        </p:nvSpPr>
        <p:spPr>
          <a:xfrm>
            <a:off x="4572000" y="3063240"/>
            <a:ext cx="3931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Focus scope on normal operations. Flag anomalous days automatically and exclude from training.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8"/>
          <p:cNvSpPr/>
          <p:nvPr/>
        </p:nvSpPr>
        <p:spPr>
          <a:xfrm>
            <a:off x="457200" y="3931920"/>
            <a:ext cx="822924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3" name="Shape 19"/>
          <p:cNvSpPr/>
          <p:nvPr/>
        </p:nvSpPr>
        <p:spPr>
          <a:xfrm>
            <a:off x="594360" y="4160520"/>
            <a:ext cx="776880" cy="2923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 20"/>
          <p:cNvSpPr/>
          <p:nvPr/>
        </p:nvSpPr>
        <p:spPr>
          <a:xfrm>
            <a:off x="594360" y="416052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MEDIUM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1"/>
          <p:cNvSpPr/>
          <p:nvPr/>
        </p:nvSpPr>
        <p:spPr>
          <a:xfrm>
            <a:off x="1554480" y="39776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Concept drift over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Image 3" descr="preencoded.png"/>
          <p:cNvPicPr/>
          <p:nvPr/>
        </p:nvPicPr>
        <p:blipFill>
          <a:blip r:embed="rId4"/>
          <a:stretch/>
        </p:blipFill>
        <p:spPr>
          <a:xfrm>
            <a:off x="4206240" y="4160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Text 22"/>
          <p:cNvSpPr/>
          <p:nvPr/>
        </p:nvSpPr>
        <p:spPr>
          <a:xfrm>
            <a:off x="4572000" y="3977640"/>
            <a:ext cx="3931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Implement rolling retraining window. Monitor MAE drift weekly and trigger retraining alerts.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3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14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Project Roadmap &amp; Deliverables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731520" y="1508760"/>
            <a:ext cx="7680600" cy="36360"/>
          </a:xfrm>
          <a:prstGeom prst="rect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1280160" y="1371600"/>
            <a:ext cx="292320" cy="29232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457200" y="10515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 1 month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6"/>
          <p:cNvSpPr/>
          <p:nvPr/>
        </p:nvSpPr>
        <p:spPr>
          <a:xfrm>
            <a:off x="457200" y="182880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6" name="Shape 7"/>
          <p:cNvSpPr/>
          <p:nvPr/>
        </p:nvSpPr>
        <p:spPr>
          <a:xfrm>
            <a:off x="457200" y="1828800"/>
            <a:ext cx="1965600" cy="637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 8"/>
          <p:cNvSpPr/>
          <p:nvPr/>
        </p:nvSpPr>
        <p:spPr>
          <a:xfrm>
            <a:off x="548640" y="196596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Discovery &amp;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Data Audit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9"/>
          <p:cNvSpPr/>
          <p:nvPr/>
        </p:nvSpPr>
        <p:spPr>
          <a:xfrm>
            <a:off x="594360" y="260604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Main steps: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0"/>
          <p:cNvSpPr/>
          <p:nvPr/>
        </p:nvSpPr>
        <p:spPr>
          <a:xfrm>
            <a:off x="594360" y="283464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Data quality report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Stakeholder interviews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Scope validation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1"/>
          <p:cNvSpPr/>
          <p:nvPr/>
        </p:nvSpPr>
        <p:spPr>
          <a:xfrm>
            <a:off x="594360" y="361188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Client interaction: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2"/>
          <p:cNvSpPr/>
          <p:nvPr/>
        </p:nvSpPr>
        <p:spPr>
          <a:xfrm>
            <a:off x="594360" y="38404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Kick-off with ops team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3"/>
          <p:cNvSpPr/>
          <p:nvPr/>
        </p:nvSpPr>
        <p:spPr>
          <a:xfrm>
            <a:off x="3429000" y="1371600"/>
            <a:ext cx="292320" cy="29232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 14"/>
          <p:cNvSpPr/>
          <p:nvPr/>
        </p:nvSpPr>
        <p:spPr>
          <a:xfrm>
            <a:off x="2606040" y="10515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2 months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5"/>
          <p:cNvSpPr/>
          <p:nvPr/>
        </p:nvSpPr>
        <p:spPr>
          <a:xfrm>
            <a:off x="2606040" y="182880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5" name="Shape 16"/>
          <p:cNvSpPr/>
          <p:nvPr/>
        </p:nvSpPr>
        <p:spPr>
          <a:xfrm>
            <a:off x="2606040" y="1828800"/>
            <a:ext cx="1965600" cy="637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 17"/>
          <p:cNvSpPr/>
          <p:nvPr/>
        </p:nvSpPr>
        <p:spPr>
          <a:xfrm>
            <a:off x="2697480" y="196596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EDA &amp;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Model Dev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8"/>
          <p:cNvSpPr/>
          <p:nvPr/>
        </p:nvSpPr>
        <p:spPr>
          <a:xfrm>
            <a:off x="2743200" y="260604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Main steps: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9"/>
          <p:cNvSpPr/>
          <p:nvPr/>
        </p:nvSpPr>
        <p:spPr>
          <a:xfrm>
            <a:off x="2743200" y="283464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EDA dashboard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Trained model instances (×26)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Feature importance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0"/>
          <p:cNvSpPr/>
          <p:nvPr/>
        </p:nvSpPr>
        <p:spPr>
          <a:xfrm>
            <a:off x="2743200" y="361188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Client interaction: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1"/>
          <p:cNvSpPr/>
          <p:nvPr/>
        </p:nvSpPr>
        <p:spPr>
          <a:xfrm>
            <a:off x="2743200" y="38404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Weekly check-ins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2"/>
          <p:cNvSpPr/>
          <p:nvPr/>
        </p:nvSpPr>
        <p:spPr>
          <a:xfrm>
            <a:off x="5577840" y="1371600"/>
            <a:ext cx="292320" cy="292320"/>
          </a:xfrm>
          <a:prstGeom prst="ellipse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 23"/>
          <p:cNvSpPr/>
          <p:nvPr/>
        </p:nvSpPr>
        <p:spPr>
          <a:xfrm>
            <a:off x="4754880" y="10515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2 months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4"/>
          <p:cNvSpPr/>
          <p:nvPr/>
        </p:nvSpPr>
        <p:spPr>
          <a:xfrm>
            <a:off x="4754880" y="182880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Shape 25"/>
          <p:cNvSpPr/>
          <p:nvPr/>
        </p:nvSpPr>
        <p:spPr>
          <a:xfrm>
            <a:off x="4754880" y="1828800"/>
            <a:ext cx="1965600" cy="637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 26"/>
          <p:cNvSpPr/>
          <p:nvPr/>
        </p:nvSpPr>
        <p:spPr>
          <a:xfrm>
            <a:off x="4846320" y="196596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Validation &amp;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Demo Tool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7"/>
          <p:cNvSpPr/>
          <p:nvPr/>
        </p:nvSpPr>
        <p:spPr>
          <a:xfrm>
            <a:off x="4892040" y="260604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Main steps: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8"/>
          <p:cNvSpPr/>
          <p:nvPr/>
        </p:nvSpPr>
        <p:spPr>
          <a:xfrm>
            <a:off x="4892040" y="283464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Model evaluation report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Interactive dashboard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Live demo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9"/>
          <p:cNvSpPr/>
          <p:nvPr/>
        </p:nvSpPr>
        <p:spPr>
          <a:xfrm>
            <a:off x="4892040" y="361188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Client interaction: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0"/>
          <p:cNvSpPr/>
          <p:nvPr/>
        </p:nvSpPr>
        <p:spPr>
          <a:xfrm>
            <a:off x="4892040" y="38404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Demo to management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1"/>
          <p:cNvSpPr/>
          <p:nvPr/>
        </p:nvSpPr>
        <p:spPr>
          <a:xfrm>
            <a:off x="7726680" y="1371600"/>
            <a:ext cx="292320" cy="292320"/>
          </a:xfrm>
          <a:prstGeom prst="ellipse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 32"/>
          <p:cNvSpPr/>
          <p:nvPr/>
        </p:nvSpPr>
        <p:spPr>
          <a:xfrm>
            <a:off x="6903720" y="10515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76f51"/>
                </a:solidFill>
                <a:effectLst/>
                <a:uFillTx/>
                <a:latin typeface="Calibri"/>
              </a:rPr>
              <a:t>1 month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3"/>
          <p:cNvSpPr/>
          <p:nvPr/>
        </p:nvSpPr>
        <p:spPr>
          <a:xfrm>
            <a:off x="6903720" y="1828800"/>
            <a:ext cx="196560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3" name="Shape 34"/>
          <p:cNvSpPr/>
          <p:nvPr/>
        </p:nvSpPr>
        <p:spPr>
          <a:xfrm>
            <a:off x="6903720" y="1828800"/>
            <a:ext cx="1965600" cy="63720"/>
          </a:xfrm>
          <a:prstGeom prst="rect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 35"/>
          <p:cNvSpPr/>
          <p:nvPr/>
        </p:nvSpPr>
        <p:spPr>
          <a:xfrm>
            <a:off x="6995160" y="196596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Handoff &amp;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Recommendations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6"/>
          <p:cNvSpPr/>
          <p:nvPr/>
        </p:nvSpPr>
        <p:spPr>
          <a:xfrm>
            <a:off x="7040880" y="260604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Main steps: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7"/>
          <p:cNvSpPr/>
          <p:nvPr/>
        </p:nvSpPr>
        <p:spPr>
          <a:xfrm>
            <a:off x="7040880" y="283464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Onboarding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Integration into Euro-Park’s processes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8"/>
          <p:cNvSpPr/>
          <p:nvPr/>
        </p:nvSpPr>
        <p:spPr>
          <a:xfrm>
            <a:off x="7040880" y="361188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Client interaction: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39"/>
          <p:cNvSpPr/>
          <p:nvPr/>
        </p:nvSpPr>
        <p:spPr>
          <a:xfrm>
            <a:off x="7040880" y="38404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Final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0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15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BUSINESS IMPACT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Leveraging Forecasts to Drive KPIs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"/>
          <p:cNvSpPr/>
          <p:nvPr/>
        </p:nvSpPr>
        <p:spPr>
          <a:xfrm>
            <a:off x="457200" y="1188720"/>
            <a:ext cx="406872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4" name="Shape 4"/>
          <p:cNvSpPr/>
          <p:nvPr/>
        </p:nvSpPr>
        <p:spPr>
          <a:xfrm>
            <a:off x="640080" y="1371600"/>
            <a:ext cx="502560" cy="50256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5" name="Image 0" descr="preencoded.png"/>
          <p:cNvPicPr/>
          <p:nvPr/>
        </p:nvPicPr>
        <p:blipFill>
          <a:blip r:embed="rId1"/>
          <a:stretch/>
        </p:blipFill>
        <p:spPr>
          <a:xfrm>
            <a:off x="740520" y="14720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5"/>
          <p:cNvSpPr/>
          <p:nvPr/>
        </p:nvSpPr>
        <p:spPr>
          <a:xfrm>
            <a:off x="1280160" y="13716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Dynamic Staffing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6"/>
          <p:cNvSpPr/>
          <p:nvPr/>
        </p:nvSpPr>
        <p:spPr>
          <a:xfrm>
            <a:off x="640080" y="18288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Allocate staff based on predicted demand per attraction and time slot. Reduce labor costs while maintaining service.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7"/>
          <p:cNvSpPr/>
          <p:nvPr/>
        </p:nvSpPr>
        <p:spPr>
          <a:xfrm>
            <a:off x="640080" y="2423160"/>
            <a:ext cx="2285640" cy="2923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 8"/>
          <p:cNvSpPr/>
          <p:nvPr/>
        </p:nvSpPr>
        <p:spPr>
          <a:xfrm>
            <a:off x="640080" y="24231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Cost efficiency +15%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9"/>
          <p:cNvSpPr/>
          <p:nvPr/>
        </p:nvSpPr>
        <p:spPr>
          <a:xfrm>
            <a:off x="4709160" y="1188720"/>
            <a:ext cx="406872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1" name="Shape 10"/>
          <p:cNvSpPr/>
          <p:nvPr/>
        </p:nvSpPr>
        <p:spPr>
          <a:xfrm>
            <a:off x="4892040" y="1371600"/>
            <a:ext cx="502560" cy="50256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22" name="Image 1" descr="preencoded.png"/>
          <p:cNvPicPr/>
          <p:nvPr/>
        </p:nvPicPr>
        <p:blipFill>
          <a:blip r:embed="rId2"/>
          <a:stretch/>
        </p:blipFill>
        <p:spPr>
          <a:xfrm>
            <a:off x="4992480" y="14720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11"/>
          <p:cNvSpPr/>
          <p:nvPr/>
        </p:nvSpPr>
        <p:spPr>
          <a:xfrm>
            <a:off x="5532120" y="13716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Visitor Flow Redistribution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2"/>
          <p:cNvSpPr/>
          <p:nvPr/>
        </p:nvSpPr>
        <p:spPr>
          <a:xfrm>
            <a:off x="4892040" y="18288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Real-time app suggestions to redirect visitors from congested attractions to shorter queues nearby.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3"/>
          <p:cNvSpPr/>
          <p:nvPr/>
        </p:nvSpPr>
        <p:spPr>
          <a:xfrm>
            <a:off x="4892040" y="2423160"/>
            <a:ext cx="2285640" cy="2923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 14"/>
          <p:cNvSpPr/>
          <p:nvPr/>
        </p:nvSpPr>
        <p:spPr>
          <a:xfrm>
            <a:off x="4892040" y="24231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Avg wait time -20%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5"/>
          <p:cNvSpPr/>
          <p:nvPr/>
        </p:nvSpPr>
        <p:spPr>
          <a:xfrm>
            <a:off x="457200" y="3017520"/>
            <a:ext cx="406872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8" name="Shape 16"/>
          <p:cNvSpPr/>
          <p:nvPr/>
        </p:nvSpPr>
        <p:spPr>
          <a:xfrm>
            <a:off x="640080" y="3200400"/>
            <a:ext cx="502560" cy="50256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29" name="Image 2" descr="preencoded.png"/>
          <p:cNvPicPr/>
          <p:nvPr/>
        </p:nvPicPr>
        <p:blipFill>
          <a:blip r:embed="rId3"/>
          <a:stretch/>
        </p:blipFill>
        <p:spPr>
          <a:xfrm>
            <a:off x="740520" y="33008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 17"/>
          <p:cNvSpPr/>
          <p:nvPr/>
        </p:nvSpPr>
        <p:spPr>
          <a:xfrm>
            <a:off x="1280160" y="320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Personalized Recommendations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8"/>
          <p:cNvSpPr/>
          <p:nvPr/>
        </p:nvSpPr>
        <p:spPr>
          <a:xfrm>
            <a:off x="640080" y="36576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Suggest optimal visit times and attraction sequences for each guest based on forecasted wait patterns.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9"/>
          <p:cNvSpPr/>
          <p:nvPr/>
        </p:nvSpPr>
        <p:spPr>
          <a:xfrm>
            <a:off x="640080" y="4251960"/>
            <a:ext cx="2285640" cy="2923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 20"/>
          <p:cNvSpPr/>
          <p:nvPr/>
        </p:nvSpPr>
        <p:spPr>
          <a:xfrm>
            <a:off x="640080" y="42519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NPS improvement +10pts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21"/>
          <p:cNvSpPr/>
          <p:nvPr/>
        </p:nvSpPr>
        <p:spPr>
          <a:xfrm>
            <a:off x="4709160" y="3017520"/>
            <a:ext cx="406872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5" name="Shape 22"/>
          <p:cNvSpPr/>
          <p:nvPr/>
        </p:nvSpPr>
        <p:spPr>
          <a:xfrm>
            <a:off x="4892040" y="3200400"/>
            <a:ext cx="502560" cy="502560"/>
          </a:xfrm>
          <a:prstGeom prst="ellipse">
            <a:avLst/>
          </a:prstGeom>
          <a:solidFill>
            <a:srgbClr val="e8ec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36" name="Image 3" descr="preencoded.png"/>
          <p:cNvPicPr/>
          <p:nvPr/>
        </p:nvPicPr>
        <p:blipFill>
          <a:blip r:embed="rId4"/>
          <a:stretch/>
        </p:blipFill>
        <p:spPr>
          <a:xfrm>
            <a:off x="4992480" y="33008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Text 23"/>
          <p:cNvSpPr/>
          <p:nvPr/>
        </p:nvSpPr>
        <p:spPr>
          <a:xfrm>
            <a:off x="5532120" y="3200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Trebuchet MS"/>
                <a:ea typeface="Trebuchet MS"/>
              </a:rPr>
              <a:t>Revenue Optimization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4"/>
          <p:cNvSpPr/>
          <p:nvPr/>
        </p:nvSpPr>
        <p:spPr>
          <a:xfrm>
            <a:off x="4892040" y="36576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d4f5f"/>
                </a:solidFill>
                <a:effectLst/>
                <a:uFillTx/>
                <a:latin typeface="Calibri"/>
                <a:ea typeface="Calibri"/>
              </a:rPr>
              <a:t>Premium skip-the-line passes dynamically priced based on predicted congestion. Maximize yield from high-demand periods.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25"/>
          <p:cNvSpPr/>
          <p:nvPr/>
        </p:nvSpPr>
        <p:spPr>
          <a:xfrm>
            <a:off x="4892040" y="4251960"/>
            <a:ext cx="2285640" cy="29232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 26"/>
          <p:cNvSpPr/>
          <p:nvPr/>
        </p:nvSpPr>
        <p:spPr>
          <a:xfrm>
            <a:off x="4892040" y="42519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Revenue per visitor +12%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7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16 /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640080" y="182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WHY US?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640080" y="502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 Team Built for This Challenge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457200" y="1188720"/>
            <a:ext cx="2651400" cy="12340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640080" y="1371600"/>
            <a:ext cx="456840" cy="45684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7" name="Image 0" descr="preencoded.png"/>
          <p:cNvPicPr/>
          <p:nvPr/>
        </p:nvPicPr>
        <p:blipFill>
          <a:blip r:embed="rId1"/>
          <a:stretch/>
        </p:blipFill>
        <p:spPr>
          <a:xfrm>
            <a:off x="731520" y="1463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Text 5"/>
          <p:cNvSpPr/>
          <p:nvPr/>
        </p:nvSpPr>
        <p:spPr>
          <a:xfrm>
            <a:off x="1234440" y="12801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Nicolas P.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6"/>
          <p:cNvSpPr/>
          <p:nvPr/>
        </p:nvSpPr>
        <p:spPr>
          <a:xfrm>
            <a:off x="1234440" y="16002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Data Scientist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7"/>
          <p:cNvSpPr/>
          <p:nvPr/>
        </p:nvSpPr>
        <p:spPr>
          <a:xfrm>
            <a:off x="640080" y="1965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ML Engineering, Strategy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8"/>
          <p:cNvSpPr/>
          <p:nvPr/>
        </p:nvSpPr>
        <p:spPr>
          <a:xfrm>
            <a:off x="3291840" y="1188720"/>
            <a:ext cx="2651400" cy="12340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2" name="Shape 9"/>
          <p:cNvSpPr/>
          <p:nvPr/>
        </p:nvSpPr>
        <p:spPr>
          <a:xfrm>
            <a:off x="3474720" y="1371600"/>
            <a:ext cx="456840" cy="45684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3" name="Image 1" descr="preencoded.png"/>
          <p:cNvPicPr/>
          <p:nvPr/>
        </p:nvPicPr>
        <p:blipFill>
          <a:blip r:embed="rId2"/>
          <a:stretch/>
        </p:blipFill>
        <p:spPr>
          <a:xfrm>
            <a:off x="3566160" y="1463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Text 10"/>
          <p:cNvSpPr/>
          <p:nvPr/>
        </p:nvSpPr>
        <p:spPr>
          <a:xfrm>
            <a:off x="4069080" y="12801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Marta 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1"/>
          <p:cNvSpPr/>
          <p:nvPr/>
        </p:nvSpPr>
        <p:spPr>
          <a:xfrm>
            <a:off x="4069080" y="16002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Data Analyst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2"/>
          <p:cNvSpPr/>
          <p:nvPr/>
        </p:nvSpPr>
        <p:spPr>
          <a:xfrm>
            <a:off x="3474720" y="1965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</a:rPr>
              <a:t>Data Processing, EDA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3"/>
          <p:cNvSpPr/>
          <p:nvPr/>
        </p:nvSpPr>
        <p:spPr>
          <a:xfrm>
            <a:off x="6126480" y="1188720"/>
            <a:ext cx="2651400" cy="12340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8" name="Shape 14"/>
          <p:cNvSpPr/>
          <p:nvPr/>
        </p:nvSpPr>
        <p:spPr>
          <a:xfrm>
            <a:off x="6309360" y="1371600"/>
            <a:ext cx="456840" cy="45684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9" name="Image 2" descr="preencoded.png"/>
          <p:cNvPicPr/>
          <p:nvPr/>
        </p:nvPicPr>
        <p:blipFill>
          <a:blip r:embed="rId3"/>
          <a:stretch/>
        </p:blipFill>
        <p:spPr>
          <a:xfrm>
            <a:off x="6400800" y="1463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15"/>
          <p:cNvSpPr/>
          <p:nvPr/>
        </p:nvSpPr>
        <p:spPr>
          <a:xfrm>
            <a:off x="6903720" y="12801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Anas K.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6"/>
          <p:cNvSpPr/>
          <p:nvPr/>
        </p:nvSpPr>
        <p:spPr>
          <a:xfrm>
            <a:off x="6903720" y="16002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Data Engineer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7"/>
          <p:cNvSpPr/>
          <p:nvPr/>
        </p:nvSpPr>
        <p:spPr>
          <a:xfrm>
            <a:off x="6309360" y="1965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Pipeline, Data Quality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8"/>
          <p:cNvSpPr/>
          <p:nvPr/>
        </p:nvSpPr>
        <p:spPr>
          <a:xfrm>
            <a:off x="457200" y="2606040"/>
            <a:ext cx="2651400" cy="12340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4" name="Shape 19"/>
          <p:cNvSpPr/>
          <p:nvPr/>
        </p:nvSpPr>
        <p:spPr>
          <a:xfrm>
            <a:off x="640080" y="2788920"/>
            <a:ext cx="456840" cy="45684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65" name="Image 3" descr="preencoded.png"/>
          <p:cNvPicPr/>
          <p:nvPr/>
        </p:nvPicPr>
        <p:blipFill>
          <a:blip r:embed="rId4"/>
          <a:stretch/>
        </p:blipFill>
        <p:spPr>
          <a:xfrm>
            <a:off x="731520" y="2880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20"/>
          <p:cNvSpPr/>
          <p:nvPr/>
        </p:nvSpPr>
        <p:spPr>
          <a:xfrm>
            <a:off x="1234440" y="26974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Zihan 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1"/>
          <p:cNvSpPr/>
          <p:nvPr/>
        </p:nvSpPr>
        <p:spPr>
          <a:xfrm>
            <a:off x="1234440" y="30175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ML Engineer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2"/>
          <p:cNvSpPr/>
          <p:nvPr/>
        </p:nvSpPr>
        <p:spPr>
          <a:xfrm>
            <a:off x="640080" y="33832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Model Development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3"/>
          <p:cNvSpPr/>
          <p:nvPr/>
        </p:nvSpPr>
        <p:spPr>
          <a:xfrm>
            <a:off x="3291840" y="2606040"/>
            <a:ext cx="2651400" cy="12340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0" name="Shape 24"/>
          <p:cNvSpPr/>
          <p:nvPr/>
        </p:nvSpPr>
        <p:spPr>
          <a:xfrm>
            <a:off x="3474720" y="2788920"/>
            <a:ext cx="456840" cy="45684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1" name="Image 4" descr="preencoded.png"/>
          <p:cNvPicPr/>
          <p:nvPr/>
        </p:nvPicPr>
        <p:blipFill>
          <a:blip r:embed="rId5"/>
          <a:stretch/>
        </p:blipFill>
        <p:spPr>
          <a:xfrm>
            <a:off x="3566160" y="2880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 25"/>
          <p:cNvSpPr/>
          <p:nvPr/>
        </p:nvSpPr>
        <p:spPr>
          <a:xfrm>
            <a:off x="4069080" y="26974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Neil 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6"/>
          <p:cNvSpPr/>
          <p:nvPr/>
        </p:nvSpPr>
        <p:spPr>
          <a:xfrm>
            <a:off x="4069080" y="30175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Business Analyst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7"/>
          <p:cNvSpPr/>
          <p:nvPr/>
        </p:nvSpPr>
        <p:spPr>
          <a:xfrm>
            <a:off x="3474720" y="33832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  <a:ea typeface="Calibri"/>
              </a:rPr>
              <a:t>KPI Strategy, Consulting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8"/>
          <p:cNvSpPr/>
          <p:nvPr/>
        </p:nvSpPr>
        <p:spPr>
          <a:xfrm>
            <a:off x="6126480" y="2606040"/>
            <a:ext cx="2651400" cy="1234080"/>
          </a:xfrm>
          <a:prstGeom prst="rect">
            <a:avLst/>
          </a:prstGeom>
          <a:solidFill>
            <a:srgbClr val="0d7377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6" name="Shape 29"/>
          <p:cNvSpPr/>
          <p:nvPr/>
        </p:nvSpPr>
        <p:spPr>
          <a:xfrm>
            <a:off x="6309360" y="2788920"/>
            <a:ext cx="456840" cy="45684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7" name="Image 5" descr="preencoded.png"/>
          <p:cNvPicPr/>
          <p:nvPr/>
        </p:nvPicPr>
        <p:blipFill>
          <a:blip r:embed="rId6"/>
          <a:stretch/>
        </p:blipFill>
        <p:spPr>
          <a:xfrm>
            <a:off x="6400800" y="2880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Text 30"/>
          <p:cNvSpPr/>
          <p:nvPr/>
        </p:nvSpPr>
        <p:spPr>
          <a:xfrm>
            <a:off x="6903720" y="26974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Matteo C.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31"/>
          <p:cNvSpPr/>
          <p:nvPr/>
        </p:nvSpPr>
        <p:spPr>
          <a:xfrm>
            <a:off x="6903720" y="30175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Data Scientist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32"/>
          <p:cNvSpPr/>
          <p:nvPr/>
        </p:nvSpPr>
        <p:spPr>
          <a:xfrm>
            <a:off x="6309360" y="33832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e8ecf1"/>
                </a:solidFill>
                <a:effectLst/>
                <a:uFillTx/>
                <a:latin typeface="Calibri"/>
              </a:rPr>
              <a:t>Time-Series, Feature Eng.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33"/>
          <p:cNvSpPr/>
          <p:nvPr/>
        </p:nvSpPr>
        <p:spPr>
          <a:xfrm>
            <a:off x="457200" y="4069080"/>
            <a:ext cx="8229240" cy="776880"/>
          </a:xfrm>
          <a:prstGeom prst="rect">
            <a:avLst/>
          </a:prstGeom>
          <a:solidFill>
            <a:srgbClr val="0d7377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 34"/>
          <p:cNvSpPr/>
          <p:nvPr/>
        </p:nvSpPr>
        <p:spPr>
          <a:xfrm>
            <a:off x="640080" y="4069080"/>
            <a:ext cx="7863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Dual expertise in consulting and data science  ·  Proven track record on tabular ML and time-series  ·  Business-driven, not just model-driven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35"/>
          <p:cNvSpPr/>
          <p:nvPr/>
        </p:nvSpPr>
        <p:spPr>
          <a:xfrm>
            <a:off x="8046720" y="4754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17 / 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5" name="Shape 1"/>
          <p:cNvSpPr/>
          <p:nvPr/>
        </p:nvSpPr>
        <p:spPr>
          <a:xfrm>
            <a:off x="-914400" y="2743200"/>
            <a:ext cx="3657240" cy="3657240"/>
          </a:xfrm>
          <a:prstGeom prst="ellipse">
            <a:avLst/>
          </a:prstGeom>
          <a:solidFill>
            <a:srgbClr val="0d7377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6" name="Shape 2"/>
          <p:cNvSpPr/>
          <p:nvPr/>
        </p:nvSpPr>
        <p:spPr>
          <a:xfrm>
            <a:off x="6858000" y="-1371600"/>
            <a:ext cx="3657240" cy="3657240"/>
          </a:xfrm>
          <a:prstGeom prst="ellipse">
            <a:avLst/>
          </a:prstGeom>
          <a:solidFill>
            <a:srgbClr val="14a3a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7" name="Shape 3"/>
          <p:cNvSpPr/>
          <p:nvPr/>
        </p:nvSpPr>
        <p:spPr>
          <a:xfrm>
            <a:off x="3886200" y="914400"/>
            <a:ext cx="914040" cy="914040"/>
          </a:xfrm>
          <a:prstGeom prst="ellipse">
            <a:avLst/>
          </a:prstGeom>
          <a:solidFill>
            <a:srgbClr val="0d73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88" name="Image 0" descr="preencoded.png"/>
          <p:cNvPicPr/>
          <p:nvPr/>
        </p:nvPicPr>
        <p:blipFill>
          <a:blip r:embed="rId1"/>
          <a:stretch/>
        </p:blipFill>
        <p:spPr>
          <a:xfrm>
            <a:off x="4069080" y="1097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4"/>
          <p:cNvSpPr/>
          <p:nvPr/>
        </p:nvSpPr>
        <p:spPr>
          <a:xfrm>
            <a:off x="640080" y="201168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Thank You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5"/>
          <p:cNvSpPr/>
          <p:nvPr/>
        </p:nvSpPr>
        <p:spPr>
          <a:xfrm>
            <a:off x="1371600" y="283464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4a3a8"/>
                </a:solidFill>
                <a:effectLst/>
                <a:uFillTx/>
                <a:latin typeface="Calibri"/>
                <a:ea typeface="Calibri"/>
              </a:rPr>
              <a:t>Ready to turn waiting time data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4a3a8"/>
                </a:solidFill>
                <a:effectLst/>
                <a:uFillTx/>
                <a:latin typeface="Calibri"/>
                <a:ea typeface="Calibri"/>
              </a:rPr>
              <a:t>into a competitive advantage for Euro-park.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6"/>
          <p:cNvSpPr/>
          <p:nvPr/>
        </p:nvSpPr>
        <p:spPr>
          <a:xfrm>
            <a:off x="3200400" y="3749040"/>
            <a:ext cx="2742840" cy="3636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 defTabSz="914400">
              <a:lnSpc>
                <a:spcPct val="100000"/>
              </a:lnSpc>
            </a:pPr>
            <a:endParaRPr lang="en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 7"/>
          <p:cNvSpPr/>
          <p:nvPr/>
        </p:nvSpPr>
        <p:spPr>
          <a:xfrm>
            <a:off x="1828800" y="3931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Questions &amp; Discussion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8"/>
          <p:cNvSpPr/>
          <p:nvPr/>
        </p:nvSpPr>
        <p:spPr>
          <a:xfrm>
            <a:off x="1828800" y="45720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899aa"/>
                </a:solidFill>
                <a:effectLst/>
                <a:uFillTx/>
                <a:latin typeface="Calibri"/>
                <a:ea typeface="Calibri"/>
              </a:rPr>
              <a:t>The Endless Line  |  Confidential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LibreOffice/25.8.4.2$Windows_X86_64 LibreOffice_project/290daaa01b999472f0c7a3890eb6a550fd74c6df</Application>
  <AppVersion>15.0000</AppVersion>
  <Words>1520</Words>
  <Paragraphs>332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2026-02-12T13:14:22Z</dcterms:created>
  <dc:creator>Data Consulting Team</dc:creator>
  <dc:description/>
  <dc:language>fr-FR</dc:language>
  <cp:lastModifiedBy/>
  <dcterms:modified xsi:type="dcterms:W3CDTF">2026-02-12T22:16:16Z</dcterms:modified>
  <cp:revision>5</cp:revision>
  <dc:subject>PptxGenJS Presentation</dc:subject>
  <dc:title>The Endless Line – Euro-park Waiting Time Forecasting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